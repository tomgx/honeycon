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65" r:id="rId2"/>
    <p:sldId id="264" r:id="rId3"/>
    <p:sldId id="261" r:id="rId4"/>
    <p:sldId id="262" r:id="rId5"/>
    <p:sldId id="260" r:id="rId6"/>
    <p:sldId id="266" r:id="rId7"/>
    <p:sldId id="267" r:id="rId8"/>
    <p:sldId id="268" r:id="rId9"/>
    <p:sldId id="263" r:id="rId10"/>
    <p:sldId id="269" r:id="rId11"/>
    <p:sldId id="270" r:id="rId12"/>
    <p:sldId id="272"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88" autoAdjust="0"/>
  </p:normalViewPr>
  <p:slideViewPr>
    <p:cSldViewPr snapToGrid="0">
      <p:cViewPr varScale="1">
        <p:scale>
          <a:sx n="163" d="100"/>
          <a:sy n="163" d="100"/>
        </p:scale>
        <p:origin x="144" y="16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3EB4EE-2FDA-4274-8B85-6971793D69C1}" type="datetimeFigureOut">
              <a:rPr lang="en-GB" smtClean="0"/>
              <a:t>04/06/2026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B4AE9-2D0A-49F2-82D9-AF9D3F09666E}" type="slidenum">
              <a:rPr lang="en-GB" smtClean="0"/>
              <a:t>‹#›</a:t>
            </a:fld>
            <a:endParaRPr lang="en-GB"/>
          </a:p>
        </p:txBody>
      </p:sp>
    </p:spTree>
    <p:extLst>
      <p:ext uri="{BB962C8B-B14F-4D97-AF65-F5344CB8AC3E}">
        <p14:creationId xmlns:p14="http://schemas.microsoft.com/office/powerpoint/2010/main" val="359924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97F6D-8237-69CB-B244-7567BE2BA9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0027AF-5064-AC1D-D788-14E88C300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373AC2-5BCB-4B97-A076-771F7F5B2F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7CAB7A-5CDB-C58E-051E-7BAF1FEA6B79}"/>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4379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C2527-B3F2-2A0F-5C9E-5DD710FBCB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1FD3A1-9DAC-5AD1-D703-A3FE795967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F1C15E-B008-C24E-4167-CA39AC13E5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C32FCC-C792-6532-8F6A-C4E4450960C1}"/>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3983403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2270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1219639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577260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06E476-57F3-49B0-9D7A-EF584FAB84FB}"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4746065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D06E476-57F3-49B0-9D7A-EF584FAB84FB}" type="datetimeFigureOut">
              <a:rPr lang="en-GB" smtClean="0"/>
              <a:t>04/06/2026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5995501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D06E476-57F3-49B0-9D7A-EF584FAB84FB}" type="datetimeFigureOut">
              <a:rPr lang="en-GB" smtClean="0"/>
              <a:t>04/06/2026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26093949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06E476-57F3-49B0-9D7A-EF584FAB84FB}" type="datetimeFigureOut">
              <a:rPr lang="en-GB" smtClean="0"/>
              <a:t>04/06/2026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35353490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06E476-57F3-49B0-9D7A-EF584FAB84FB}"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1291515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D06E476-57F3-49B0-9D7A-EF584FAB84FB}" type="datetimeFigureOut">
              <a:rPr lang="en-GB" smtClean="0"/>
              <a:t>04/06/2026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2036285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D06E476-57F3-49B0-9D7A-EF584FAB84FB}" type="datetimeFigureOut">
              <a:rPr lang="en-GB" smtClean="0"/>
              <a:t>04/06/2026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1014243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9057407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74774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42333748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914486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1581965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677354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D06E476-57F3-49B0-9D7A-EF584FAB84FB}" type="datetimeFigureOut">
              <a:rPr lang="en-GB" smtClean="0"/>
              <a:t>04/06/2026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A4B8831-430C-40B6-B6C5-2DED701AB56C}" type="slidenum">
              <a:rPr lang="en-GB" smtClean="0"/>
              <a:t>‹#›</a:t>
            </a:fld>
            <a:endParaRPr lang="en-GB"/>
          </a:p>
        </p:txBody>
      </p:sp>
    </p:spTree>
    <p:extLst>
      <p:ext uri="{BB962C8B-B14F-4D97-AF65-F5344CB8AC3E}">
        <p14:creationId xmlns:p14="http://schemas.microsoft.com/office/powerpoint/2010/main" val="31239305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27347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D06E476-57F3-49B0-9D7A-EF584FAB84FB}" type="datetimeFigureOut">
              <a:rPr lang="en-GB" smtClean="0"/>
              <a:t>04/06/2026</a:t>
            </a:fld>
            <a:endParaRPr lang="en-GB"/>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GB"/>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5A4B8831-430C-40B6-B6C5-2DED701AB56C}" type="slidenum">
              <a:rPr lang="en-GB" smtClean="0"/>
              <a:t>‹#›</a:t>
            </a:fld>
            <a:endParaRPr lang="en-GB"/>
          </a:p>
        </p:txBody>
      </p:sp>
    </p:spTree>
    <p:extLst>
      <p:ext uri="{BB962C8B-B14F-4D97-AF65-F5344CB8AC3E}">
        <p14:creationId xmlns:p14="http://schemas.microsoft.com/office/powerpoint/2010/main" val="3219275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8.xml"/><Relationship Id="rId6" Type="http://schemas.openxmlformats.org/officeDocument/2006/relationships/image" Target="../media/image10.emf"/><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09600" y="1950720"/>
            <a:ext cx="9753600" cy="1463040"/>
          </a:xfrm>
          <a:prstGeom prst="rect">
            <a:avLst/>
          </a:prstGeom>
          <a:noFill/>
          <a:ln/>
        </p:spPr>
        <p:txBody>
          <a:bodyPr wrap="square" lIns="0" tIns="0" rIns="0" bIns="0" rtlCol="0" anchor="ctr"/>
          <a:lstStyle/>
          <a:p>
            <a:r>
              <a:rPr lang="en-US" sz="6933" dirty="0">
                <a:solidFill>
                  <a:srgbClr val="FFFFFF"/>
                </a:solidFill>
                <a:latin typeface="Calibri" pitchFamily="34" charset="0"/>
                <a:ea typeface="Calibri" pitchFamily="34" charset="-122"/>
                <a:cs typeface="Calibri" pitchFamily="34" charset="-120"/>
              </a:rPr>
              <a:t>HONEYCON NETWORK</a:t>
            </a:r>
            <a:endParaRPr lang="en-US" sz="6933" dirty="0"/>
          </a:p>
        </p:txBody>
      </p:sp>
      <p:sp>
        <p:nvSpPr>
          <p:cNvPr id="7" name="Text 5"/>
          <p:cNvSpPr/>
          <p:nvPr/>
        </p:nvSpPr>
        <p:spPr>
          <a:xfrm>
            <a:off x="609600" y="3596640"/>
            <a:ext cx="8534400" cy="609600"/>
          </a:xfrm>
          <a:prstGeom prst="rect">
            <a:avLst/>
          </a:prstGeom>
          <a:noFill/>
          <a:ln/>
        </p:spPr>
        <p:txBody>
          <a:bodyPr wrap="square" lIns="0" tIns="0" rIns="0" bIns="0" rtlCol="0" anchor="ctr"/>
          <a:lstStyle/>
          <a:p>
            <a:r>
              <a:rPr lang="en-US" sz="2667" dirty="0">
                <a:solidFill>
                  <a:srgbClr val="00B4D8"/>
                </a:solidFill>
                <a:latin typeface="Calibri" pitchFamily="34" charset="0"/>
                <a:ea typeface="Calibri" pitchFamily="34" charset="-122"/>
                <a:cs typeface="Calibri" pitchFamily="34" charset="-120"/>
              </a:rPr>
              <a:t>Dynamic Honeypot Scaling Using Docker &amp; OpenFlow</a:t>
            </a:r>
            <a:endParaRPr lang="en-US" sz="2667" dirty="0"/>
          </a:p>
        </p:txBody>
      </p:sp>
      <p:sp>
        <p:nvSpPr>
          <p:cNvPr id="8" name="Text 6"/>
          <p:cNvSpPr/>
          <p:nvPr/>
        </p:nvSpPr>
        <p:spPr>
          <a:xfrm>
            <a:off x="609600" y="4998720"/>
            <a:ext cx="6096000" cy="487680"/>
          </a:xfrm>
          <a:prstGeom prst="rect">
            <a:avLst/>
          </a:prstGeom>
          <a:noFill/>
          <a:ln/>
        </p:spPr>
        <p:txBody>
          <a:bodyPr wrap="square" lIns="0" tIns="0" rIns="0" bIns="0" rtlCol="0" anchor="ctr"/>
          <a:lstStyle/>
          <a:p>
            <a:r>
              <a:rPr lang="en-US" sz="2133" dirty="0">
                <a:solidFill>
                  <a:srgbClr val="00B4D8"/>
                </a:solidFill>
                <a:latin typeface="Calibri" pitchFamily="34" charset="0"/>
                <a:ea typeface="Calibri" pitchFamily="34" charset="-122"/>
                <a:cs typeface="Calibri" pitchFamily="34" charset="-120"/>
              </a:rPr>
              <a:t>Thomas Green | Lancaster University</a:t>
            </a:r>
            <a:endParaRPr lang="en-US" sz="213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INTRODUCTION</a:t>
            </a:r>
            <a:endParaRPr lang="en-US" sz="3733" dirty="0"/>
          </a:p>
        </p:txBody>
      </p:sp>
      <p:pic>
        <p:nvPicPr>
          <p:cNvPr id="7" name="Image 0" descr="preencoded.png"/>
          <p:cNvPicPr>
            <a:picLocks noChangeAspect="1"/>
          </p:cNvPicPr>
          <p:nvPr/>
        </p:nvPicPr>
        <p:blipFill>
          <a:blip r:embed="rId3"/>
          <a:stretch>
            <a:fillRect/>
          </a:stretch>
        </p:blipFill>
        <p:spPr>
          <a:xfrm>
            <a:off x="6965950" y="1582420"/>
            <a:ext cx="4876800" cy="3291840"/>
          </a:xfrm>
          <a:prstGeom prst="rect">
            <a:avLst/>
          </a:prstGeom>
        </p:spPr>
      </p:pic>
      <p:sp>
        <p:nvSpPr>
          <p:cNvPr id="8" name="Text 5"/>
          <p:cNvSpPr/>
          <p:nvPr/>
        </p:nvSpPr>
        <p:spPr>
          <a:xfrm>
            <a:off x="609600" y="1582420"/>
            <a:ext cx="6096000" cy="426720"/>
          </a:xfrm>
          <a:prstGeom prst="rect">
            <a:avLst/>
          </a:prstGeom>
          <a:noFill/>
          <a:ln/>
        </p:spPr>
        <p:txBody>
          <a:bodyPr wrap="square" lIns="0" tIns="0" rIns="0" bIns="0" rtlCol="0" anchor="ctr"/>
          <a:lstStyle/>
          <a:p>
            <a:r>
              <a:rPr lang="en-US" sz="2133" b="1" dirty="0">
                <a:solidFill>
                  <a:srgbClr val="FFFFFF"/>
                </a:solidFill>
                <a:latin typeface="Calibri" pitchFamily="34" charset="0"/>
                <a:ea typeface="Calibri" pitchFamily="34" charset="-122"/>
                <a:cs typeface="Calibri" pitchFamily="34" charset="-120"/>
              </a:rPr>
              <a:t>What is a Honeypot?</a:t>
            </a:r>
            <a:endParaRPr lang="en-US" sz="2133" dirty="0"/>
          </a:p>
        </p:txBody>
      </p:sp>
      <p:sp>
        <p:nvSpPr>
          <p:cNvPr id="9" name="Text 6"/>
          <p:cNvSpPr/>
          <p:nvPr/>
        </p:nvSpPr>
        <p:spPr>
          <a:xfrm>
            <a:off x="853440" y="1710436"/>
            <a:ext cx="5974080" cy="1036320"/>
          </a:xfrm>
          <a:prstGeom prst="rect">
            <a:avLst/>
          </a:prstGeom>
          <a:noFill/>
          <a:ln/>
        </p:spPr>
        <p:txBody>
          <a:bodyPr wrap="square" rtlCol="0" anchor="ctr"/>
          <a:lstStyle/>
          <a:p>
            <a:r>
              <a:rPr lang="en-US" sz="1733" dirty="0">
                <a:solidFill>
                  <a:srgbClr val="AAAAAA"/>
                </a:solidFill>
                <a:latin typeface="Calibri" pitchFamily="34" charset="0"/>
                <a:ea typeface="Calibri" pitchFamily="34" charset="-122"/>
                <a:cs typeface="Calibri" pitchFamily="34" charset="-120"/>
              </a:rPr>
              <a:t>Network decoys designed to attract and trap attackers</a:t>
            </a:r>
            <a:endParaRPr lang="en-US" sz="1733" dirty="0"/>
          </a:p>
        </p:txBody>
      </p:sp>
      <p:sp>
        <p:nvSpPr>
          <p:cNvPr id="10" name="Text 7"/>
          <p:cNvSpPr/>
          <p:nvPr/>
        </p:nvSpPr>
        <p:spPr>
          <a:xfrm>
            <a:off x="609600" y="2880868"/>
            <a:ext cx="6096000" cy="426720"/>
          </a:xfrm>
          <a:prstGeom prst="rect">
            <a:avLst/>
          </a:prstGeom>
          <a:noFill/>
          <a:ln/>
        </p:spPr>
        <p:txBody>
          <a:bodyPr wrap="square" lIns="0" tIns="0" rIns="0" bIns="0" rtlCol="0" anchor="ctr"/>
          <a:lstStyle/>
          <a:p>
            <a:r>
              <a:rPr lang="en-US" sz="2133" b="1" dirty="0">
                <a:solidFill>
                  <a:srgbClr val="FFFFFF"/>
                </a:solidFill>
                <a:latin typeface="Calibri" pitchFamily="34" charset="0"/>
                <a:ea typeface="Calibri" pitchFamily="34" charset="-122"/>
                <a:cs typeface="Calibri" pitchFamily="34" charset="-120"/>
              </a:rPr>
              <a:t>The Problem with Static Defences</a:t>
            </a:r>
            <a:endParaRPr lang="en-US" sz="2133" dirty="0"/>
          </a:p>
        </p:txBody>
      </p:sp>
      <p:sp>
        <p:nvSpPr>
          <p:cNvPr id="11" name="Text 8"/>
          <p:cNvSpPr/>
          <p:nvPr/>
        </p:nvSpPr>
        <p:spPr>
          <a:xfrm>
            <a:off x="853440" y="3344164"/>
            <a:ext cx="5974080" cy="1036320"/>
          </a:xfrm>
          <a:prstGeom prst="rect">
            <a:avLst/>
          </a:prstGeom>
          <a:noFill/>
          <a:ln/>
        </p:spPr>
        <p:txBody>
          <a:bodyPr wrap="square" rtlCol="0" anchor="ctr"/>
          <a:lstStyle/>
          <a:p>
            <a:r>
              <a:rPr lang="en-US" sz="1733" dirty="0">
                <a:solidFill>
                  <a:srgbClr val="AAAAAA"/>
                </a:solidFill>
                <a:latin typeface="Calibri" pitchFamily="34" charset="0"/>
                <a:ea typeface="Calibri" pitchFamily="34" charset="-122"/>
                <a:cs typeface="Calibri" pitchFamily="34" charset="-120"/>
              </a:rPr>
              <a:t>Traditional systems are easily fingerprinted or bypassed by attackers. As networks grow, they struggle to handle higher traffic volumes and more complex attacks.</a:t>
            </a:r>
            <a:endParaRPr lang="en-US"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AIMS OF THE SYSTEM</a:t>
            </a:r>
            <a:endParaRPr lang="en-US" sz="3733" dirty="0"/>
          </a:p>
        </p:txBody>
      </p:sp>
      <p:sp>
        <p:nvSpPr>
          <p:cNvPr id="8" name="Shape 6"/>
          <p:cNvSpPr/>
          <p:nvPr/>
        </p:nvSpPr>
        <p:spPr>
          <a:xfrm>
            <a:off x="426720" y="1950720"/>
            <a:ext cx="5364480" cy="2072640"/>
          </a:xfrm>
          <a:prstGeom prst="rect">
            <a:avLst/>
          </a:prstGeom>
          <a:solidFill>
            <a:srgbClr val="2A2A30">
              <a:alpha val="80000"/>
            </a:srgbClr>
          </a:solidFill>
          <a:ln w="12700">
            <a:solidFill>
              <a:schemeClr val="tx1">
                <a:alpha val="60000"/>
              </a:schemeClr>
            </a:solidFill>
            <a:prstDash val="solid"/>
          </a:ln>
        </p:spPr>
        <p:txBody>
          <a:bodyPr/>
          <a:lstStyle/>
          <a:p>
            <a:endParaRPr lang="en-GB" sz="2400"/>
          </a:p>
        </p:txBody>
      </p:sp>
      <p:sp>
        <p:nvSpPr>
          <p:cNvPr id="9" name="Text 7"/>
          <p:cNvSpPr/>
          <p:nvPr/>
        </p:nvSpPr>
        <p:spPr>
          <a:xfrm>
            <a:off x="646176" y="2097024"/>
            <a:ext cx="4998720" cy="463296"/>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Docker Containers</a:t>
            </a:r>
            <a:endParaRPr lang="en-US" sz="1867" dirty="0"/>
          </a:p>
        </p:txBody>
      </p:sp>
      <p:sp>
        <p:nvSpPr>
          <p:cNvPr id="10" name="Text 8"/>
          <p:cNvSpPr/>
          <p:nvPr/>
        </p:nvSpPr>
        <p:spPr>
          <a:xfrm>
            <a:off x="646176" y="2584704"/>
            <a:ext cx="4876800" cy="1280160"/>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Lightweight honeypots deployed on automatically based on the demand.</a:t>
            </a:r>
            <a:endParaRPr lang="en-US" sz="1600" dirty="0"/>
          </a:p>
        </p:txBody>
      </p:sp>
      <p:sp>
        <p:nvSpPr>
          <p:cNvPr id="11" name="Shape 9"/>
          <p:cNvSpPr/>
          <p:nvPr/>
        </p:nvSpPr>
        <p:spPr>
          <a:xfrm>
            <a:off x="6217920" y="1950720"/>
            <a:ext cx="5364480" cy="2072640"/>
          </a:xfrm>
          <a:prstGeom prst="rect">
            <a:avLst/>
          </a:prstGeom>
          <a:solidFill>
            <a:srgbClr val="2A2A30">
              <a:alpha val="80000"/>
            </a:srgbClr>
          </a:solidFill>
          <a:ln w="12700">
            <a:solidFill>
              <a:schemeClr val="tx1">
                <a:alpha val="60000"/>
              </a:schemeClr>
            </a:solidFill>
            <a:prstDash val="solid"/>
          </a:ln>
        </p:spPr>
        <p:txBody>
          <a:bodyPr/>
          <a:lstStyle/>
          <a:p>
            <a:endParaRPr lang="en-GB" sz="2400"/>
          </a:p>
        </p:txBody>
      </p:sp>
      <p:sp>
        <p:nvSpPr>
          <p:cNvPr id="12" name="Text 10"/>
          <p:cNvSpPr/>
          <p:nvPr/>
        </p:nvSpPr>
        <p:spPr>
          <a:xfrm>
            <a:off x="6437376" y="2097024"/>
            <a:ext cx="4998720" cy="463296"/>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OpenFlow / SDN</a:t>
            </a:r>
            <a:endParaRPr lang="en-US" sz="1867" dirty="0"/>
          </a:p>
        </p:txBody>
      </p:sp>
      <p:sp>
        <p:nvSpPr>
          <p:cNvPr id="13" name="Text 11"/>
          <p:cNvSpPr/>
          <p:nvPr/>
        </p:nvSpPr>
        <p:spPr>
          <a:xfrm>
            <a:off x="6437376" y="2584704"/>
            <a:ext cx="4876800" cy="1280160"/>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Manipulates flow tables on the switch in real time. Pushes rules to redirect malicious traffic to honeypots.</a:t>
            </a:r>
            <a:endParaRPr lang="en-US" sz="1600" dirty="0"/>
          </a:p>
        </p:txBody>
      </p:sp>
      <p:sp>
        <p:nvSpPr>
          <p:cNvPr id="14" name="Shape 12"/>
          <p:cNvSpPr/>
          <p:nvPr/>
        </p:nvSpPr>
        <p:spPr>
          <a:xfrm>
            <a:off x="426720" y="4267200"/>
            <a:ext cx="5364480" cy="2072640"/>
          </a:xfrm>
          <a:prstGeom prst="rect">
            <a:avLst/>
          </a:prstGeom>
          <a:solidFill>
            <a:srgbClr val="2A2A30">
              <a:alpha val="80000"/>
            </a:srgbClr>
          </a:solidFill>
          <a:ln w="12700">
            <a:solidFill>
              <a:schemeClr val="tx1">
                <a:alpha val="60000"/>
              </a:schemeClr>
            </a:solidFill>
            <a:prstDash val="solid"/>
          </a:ln>
        </p:spPr>
        <p:txBody>
          <a:bodyPr/>
          <a:lstStyle/>
          <a:p>
            <a:endParaRPr lang="en-GB" sz="2400"/>
          </a:p>
        </p:txBody>
      </p:sp>
      <p:sp>
        <p:nvSpPr>
          <p:cNvPr id="15" name="Text 13"/>
          <p:cNvSpPr/>
          <p:nvPr/>
        </p:nvSpPr>
        <p:spPr>
          <a:xfrm>
            <a:off x="646176" y="4413504"/>
            <a:ext cx="4998720" cy="463296"/>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Dynamic Scaling</a:t>
            </a:r>
            <a:endParaRPr lang="en-US" sz="1867" dirty="0"/>
          </a:p>
        </p:txBody>
      </p:sp>
      <p:sp>
        <p:nvSpPr>
          <p:cNvPr id="16" name="Text 14"/>
          <p:cNvSpPr/>
          <p:nvPr/>
        </p:nvSpPr>
        <p:spPr>
          <a:xfrm>
            <a:off x="646176" y="4901184"/>
            <a:ext cx="4876800" cy="1280160"/>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Scales up automatically during high-volume attacks. Scales back down during low volume periods, preventing resource waste.</a:t>
            </a:r>
            <a:endParaRPr lang="en-US" sz="1600" dirty="0"/>
          </a:p>
        </p:txBody>
      </p:sp>
      <p:sp>
        <p:nvSpPr>
          <p:cNvPr id="17" name="Shape 15"/>
          <p:cNvSpPr/>
          <p:nvPr/>
        </p:nvSpPr>
        <p:spPr>
          <a:xfrm>
            <a:off x="6217920" y="4267200"/>
            <a:ext cx="5364480" cy="2072640"/>
          </a:xfrm>
          <a:prstGeom prst="rect">
            <a:avLst/>
          </a:prstGeom>
          <a:solidFill>
            <a:srgbClr val="2A2A30">
              <a:alpha val="80000"/>
            </a:srgbClr>
          </a:solidFill>
          <a:ln w="12700">
            <a:solidFill>
              <a:schemeClr val="tx1">
                <a:alpha val="60000"/>
              </a:schemeClr>
            </a:solidFill>
            <a:prstDash val="solid"/>
          </a:ln>
        </p:spPr>
        <p:txBody>
          <a:bodyPr/>
          <a:lstStyle/>
          <a:p>
            <a:endParaRPr lang="en-GB" sz="2400"/>
          </a:p>
        </p:txBody>
      </p:sp>
      <p:sp>
        <p:nvSpPr>
          <p:cNvPr id="18" name="Text 16"/>
          <p:cNvSpPr/>
          <p:nvPr/>
        </p:nvSpPr>
        <p:spPr>
          <a:xfrm>
            <a:off x="6437376" y="4413504"/>
            <a:ext cx="4998720" cy="463296"/>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Attack Logging</a:t>
            </a:r>
            <a:endParaRPr lang="en-US" sz="1867" dirty="0"/>
          </a:p>
        </p:txBody>
      </p:sp>
      <p:sp>
        <p:nvSpPr>
          <p:cNvPr id="19" name="Text 17"/>
          <p:cNvSpPr/>
          <p:nvPr/>
        </p:nvSpPr>
        <p:spPr>
          <a:xfrm>
            <a:off x="6437376" y="4901184"/>
            <a:ext cx="4876800" cy="1280160"/>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Every interaction inside the honeypot is logged, providing valuable data for potential vulnerabilities.</a:t>
            </a:r>
            <a:endParaRPr lang="en-US" sz="1600" dirty="0"/>
          </a:p>
        </p:txBody>
      </p:sp>
      <p:sp>
        <p:nvSpPr>
          <p:cNvPr id="20" name="Text 10">
            <a:extLst>
              <a:ext uri="{FF2B5EF4-FFF2-40B4-BE49-F238E27FC236}">
                <a16:creationId xmlns:a16="http://schemas.microsoft.com/office/drawing/2014/main" id="{4FBF45E6-EB63-0AE1-1DE6-307E280AE543}"/>
              </a:ext>
            </a:extLst>
          </p:cNvPr>
          <p:cNvSpPr/>
          <p:nvPr/>
        </p:nvSpPr>
        <p:spPr>
          <a:xfrm>
            <a:off x="646176" y="902208"/>
            <a:ext cx="5974080" cy="1036320"/>
          </a:xfrm>
          <a:prstGeom prst="rect">
            <a:avLst/>
          </a:prstGeom>
          <a:noFill/>
          <a:ln/>
        </p:spPr>
        <p:txBody>
          <a:bodyPr wrap="square" rtlCol="0" anchor="ctr"/>
          <a:lstStyle/>
          <a:p>
            <a:r>
              <a:rPr lang="en-US" sz="1733" dirty="0">
                <a:solidFill>
                  <a:srgbClr val="AAAAAA"/>
                </a:solidFill>
                <a:latin typeface="Calibri" pitchFamily="34" charset="0"/>
                <a:ea typeface="Calibri" pitchFamily="34" charset="-122"/>
                <a:cs typeface="Calibri" pitchFamily="34" charset="-120"/>
              </a:rPr>
              <a:t>To deploy scalable, dynamic honeypot containers that automatically scale to traffic volume</a:t>
            </a:r>
            <a:endParaRPr lang="en-US" sz="173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CORE OBJECTIVES</a:t>
            </a:r>
            <a:endParaRPr lang="en-US" sz="3733" dirty="0"/>
          </a:p>
        </p:txBody>
      </p:sp>
      <p:pic>
        <p:nvPicPr>
          <p:cNvPr id="7" name="Image 0" descr="preencoded.png"/>
          <p:cNvPicPr>
            <a:picLocks noChangeAspect="1"/>
          </p:cNvPicPr>
          <p:nvPr/>
        </p:nvPicPr>
        <p:blipFill>
          <a:blip r:embed="rId3"/>
          <a:stretch>
            <a:fillRect/>
          </a:stretch>
        </p:blipFill>
        <p:spPr>
          <a:xfrm>
            <a:off x="8046720" y="97536"/>
            <a:ext cx="3901440" cy="2560320"/>
          </a:xfrm>
          <a:prstGeom prst="rect">
            <a:avLst/>
          </a:prstGeom>
        </p:spPr>
      </p:pic>
      <p:pic>
        <p:nvPicPr>
          <p:cNvPr id="8" name="Image 1" descr="preencoded.png"/>
          <p:cNvPicPr>
            <a:picLocks noChangeAspect="1"/>
          </p:cNvPicPr>
          <p:nvPr/>
        </p:nvPicPr>
        <p:blipFill>
          <a:blip r:embed="rId4">
            <a:alphaModFix amt="90000"/>
          </a:blip>
          <a:stretch>
            <a:fillRect/>
          </a:stretch>
        </p:blipFill>
        <p:spPr>
          <a:xfrm>
            <a:off x="8046720" y="3127756"/>
            <a:ext cx="3901440" cy="2956052"/>
          </a:xfrm>
          <a:prstGeom prst="rect">
            <a:avLst/>
          </a:prstGeom>
        </p:spPr>
      </p:pic>
      <p:sp>
        <p:nvSpPr>
          <p:cNvPr id="9" name="Shape 5"/>
          <p:cNvSpPr/>
          <p:nvPr/>
        </p:nvSpPr>
        <p:spPr>
          <a:xfrm>
            <a:off x="487680" y="1219200"/>
            <a:ext cx="548640" cy="548640"/>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10" name="Text 6"/>
          <p:cNvSpPr/>
          <p:nvPr/>
        </p:nvSpPr>
        <p:spPr>
          <a:xfrm>
            <a:off x="487680" y="1219200"/>
            <a:ext cx="548640" cy="548640"/>
          </a:xfrm>
          <a:prstGeom prst="rect">
            <a:avLst/>
          </a:prstGeom>
          <a:noFill/>
          <a:ln/>
        </p:spPr>
        <p:txBody>
          <a:bodyPr wrap="square" lIns="0" tIns="0" rIns="0" bIns="0" rtlCol="0" anchor="ctr"/>
          <a:lstStyle/>
          <a:p>
            <a:pPr algn="ctr"/>
            <a:r>
              <a:rPr lang="en-US" sz="1867" b="1" dirty="0">
                <a:solidFill>
                  <a:srgbClr val="1A1A1E"/>
                </a:solidFill>
              </a:rPr>
              <a:t>1</a:t>
            </a:r>
            <a:endParaRPr lang="en-US" sz="1867" dirty="0"/>
          </a:p>
        </p:txBody>
      </p:sp>
      <p:sp>
        <p:nvSpPr>
          <p:cNvPr id="11" name="Text 7"/>
          <p:cNvSpPr/>
          <p:nvPr/>
        </p:nvSpPr>
        <p:spPr>
          <a:xfrm>
            <a:off x="1280160" y="1158240"/>
            <a:ext cx="6461760" cy="426720"/>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Develop &amp; deploy a honeypot network</a:t>
            </a:r>
            <a:endParaRPr lang="en-US" sz="1867" dirty="0"/>
          </a:p>
        </p:txBody>
      </p:sp>
      <p:sp>
        <p:nvSpPr>
          <p:cNvPr id="12" name="Text 8"/>
          <p:cNvSpPr/>
          <p:nvPr/>
        </p:nvSpPr>
        <p:spPr>
          <a:xfrm>
            <a:off x="1280160" y="1609344"/>
            <a:ext cx="6461760" cy="755904"/>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Use Docker to create lightweight honeypot containers that can be spun up or down.</a:t>
            </a:r>
            <a:endParaRPr lang="en-US" sz="1600" dirty="0"/>
          </a:p>
        </p:txBody>
      </p:sp>
      <p:sp>
        <p:nvSpPr>
          <p:cNvPr id="13" name="Shape 9"/>
          <p:cNvSpPr/>
          <p:nvPr/>
        </p:nvSpPr>
        <p:spPr>
          <a:xfrm>
            <a:off x="487680" y="2584704"/>
            <a:ext cx="548640" cy="548640"/>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14" name="Text 10"/>
          <p:cNvSpPr/>
          <p:nvPr/>
        </p:nvSpPr>
        <p:spPr>
          <a:xfrm>
            <a:off x="487680" y="2584704"/>
            <a:ext cx="548640" cy="548640"/>
          </a:xfrm>
          <a:prstGeom prst="rect">
            <a:avLst/>
          </a:prstGeom>
          <a:noFill/>
          <a:ln/>
        </p:spPr>
        <p:txBody>
          <a:bodyPr wrap="square" lIns="0" tIns="0" rIns="0" bIns="0" rtlCol="0" anchor="ctr"/>
          <a:lstStyle/>
          <a:p>
            <a:pPr algn="ctr"/>
            <a:r>
              <a:rPr lang="en-US" sz="1867" b="1" dirty="0">
                <a:solidFill>
                  <a:srgbClr val="1A1A1E"/>
                </a:solidFill>
              </a:rPr>
              <a:t>2</a:t>
            </a:r>
            <a:endParaRPr lang="en-US" sz="1867" dirty="0"/>
          </a:p>
        </p:txBody>
      </p:sp>
      <p:sp>
        <p:nvSpPr>
          <p:cNvPr id="15" name="Text 11"/>
          <p:cNvSpPr/>
          <p:nvPr/>
        </p:nvSpPr>
        <p:spPr>
          <a:xfrm>
            <a:off x="1280160" y="2523744"/>
            <a:ext cx="6461760" cy="426720"/>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Integrate OpenFlow for traffic management</a:t>
            </a:r>
            <a:endParaRPr lang="en-US" sz="1867" dirty="0"/>
          </a:p>
        </p:txBody>
      </p:sp>
      <p:sp>
        <p:nvSpPr>
          <p:cNvPr id="16" name="Text 12"/>
          <p:cNvSpPr/>
          <p:nvPr/>
        </p:nvSpPr>
        <p:spPr>
          <a:xfrm>
            <a:off x="1280160" y="2974848"/>
            <a:ext cx="6461760" cy="755904"/>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Use the OSKen SDN controller that implements OpenFlow. </a:t>
            </a:r>
            <a:r>
              <a:rPr lang="en-US" sz="1600" dirty="0" err="1">
                <a:solidFill>
                  <a:srgbClr val="AAAAAA"/>
                </a:solidFill>
                <a:latin typeface="Calibri" pitchFamily="34" charset="0"/>
                <a:ea typeface="Calibri" pitchFamily="34" charset="-122"/>
                <a:cs typeface="Calibri" pitchFamily="34" charset="-120"/>
              </a:rPr>
              <a:t>OSKen</a:t>
            </a:r>
            <a:r>
              <a:rPr lang="en-US" sz="1600" dirty="0">
                <a:solidFill>
                  <a:srgbClr val="AAAAAA"/>
                </a:solidFill>
                <a:latin typeface="Calibri" pitchFamily="34" charset="0"/>
                <a:ea typeface="Calibri" pitchFamily="34" charset="-122"/>
                <a:cs typeface="Calibri" pitchFamily="34" charset="-120"/>
              </a:rPr>
              <a:t> is a fork of Ryu.</a:t>
            </a:r>
            <a:endParaRPr lang="en-US" sz="1600" dirty="0"/>
          </a:p>
        </p:txBody>
      </p:sp>
      <p:sp>
        <p:nvSpPr>
          <p:cNvPr id="17" name="Shape 13"/>
          <p:cNvSpPr/>
          <p:nvPr/>
        </p:nvSpPr>
        <p:spPr>
          <a:xfrm>
            <a:off x="487680" y="3950208"/>
            <a:ext cx="548640" cy="548640"/>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18" name="Text 14"/>
          <p:cNvSpPr/>
          <p:nvPr/>
        </p:nvSpPr>
        <p:spPr>
          <a:xfrm>
            <a:off x="487680" y="3950208"/>
            <a:ext cx="548640" cy="548640"/>
          </a:xfrm>
          <a:prstGeom prst="rect">
            <a:avLst/>
          </a:prstGeom>
          <a:noFill/>
          <a:ln/>
        </p:spPr>
        <p:txBody>
          <a:bodyPr wrap="square" lIns="0" tIns="0" rIns="0" bIns="0" rtlCol="0" anchor="ctr"/>
          <a:lstStyle/>
          <a:p>
            <a:pPr algn="ctr"/>
            <a:r>
              <a:rPr lang="en-US" sz="1867" b="1" dirty="0">
                <a:solidFill>
                  <a:srgbClr val="1A1A1E"/>
                </a:solidFill>
              </a:rPr>
              <a:t>3</a:t>
            </a:r>
            <a:endParaRPr lang="en-US" sz="1867" dirty="0"/>
          </a:p>
        </p:txBody>
      </p:sp>
      <p:sp>
        <p:nvSpPr>
          <p:cNvPr id="19" name="Text 15"/>
          <p:cNvSpPr/>
          <p:nvPr/>
        </p:nvSpPr>
        <p:spPr>
          <a:xfrm>
            <a:off x="1280160" y="3889248"/>
            <a:ext cx="6461760" cy="426720"/>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Automate scaling of honeypots</a:t>
            </a:r>
            <a:endParaRPr lang="en-US" sz="1867" dirty="0"/>
          </a:p>
        </p:txBody>
      </p:sp>
      <p:sp>
        <p:nvSpPr>
          <p:cNvPr id="20" name="Text 16"/>
          <p:cNvSpPr/>
          <p:nvPr/>
        </p:nvSpPr>
        <p:spPr>
          <a:xfrm>
            <a:off x="1280160" y="4340352"/>
            <a:ext cx="6461760" cy="755904"/>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Monitor traffic volume and automatically deploy honeypots depending on demand.</a:t>
            </a:r>
            <a:endParaRPr lang="en-US" sz="1600" dirty="0"/>
          </a:p>
        </p:txBody>
      </p:sp>
      <p:sp>
        <p:nvSpPr>
          <p:cNvPr id="21" name="Shape 17"/>
          <p:cNvSpPr/>
          <p:nvPr/>
        </p:nvSpPr>
        <p:spPr>
          <a:xfrm>
            <a:off x="487680" y="5315712"/>
            <a:ext cx="548640" cy="548640"/>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22" name="Text 18"/>
          <p:cNvSpPr/>
          <p:nvPr/>
        </p:nvSpPr>
        <p:spPr>
          <a:xfrm>
            <a:off x="487680" y="5315712"/>
            <a:ext cx="548640" cy="548640"/>
          </a:xfrm>
          <a:prstGeom prst="rect">
            <a:avLst/>
          </a:prstGeom>
          <a:noFill/>
          <a:ln/>
        </p:spPr>
        <p:txBody>
          <a:bodyPr wrap="square" lIns="0" tIns="0" rIns="0" bIns="0" rtlCol="0" anchor="ctr"/>
          <a:lstStyle/>
          <a:p>
            <a:pPr algn="ctr"/>
            <a:r>
              <a:rPr lang="en-US" sz="1867" b="1" dirty="0">
                <a:solidFill>
                  <a:srgbClr val="1A1A1E"/>
                </a:solidFill>
              </a:rPr>
              <a:t>4</a:t>
            </a:r>
            <a:endParaRPr lang="en-US" sz="1867" dirty="0"/>
          </a:p>
        </p:txBody>
      </p:sp>
      <p:sp>
        <p:nvSpPr>
          <p:cNvPr id="23" name="Text 19"/>
          <p:cNvSpPr/>
          <p:nvPr/>
        </p:nvSpPr>
        <p:spPr>
          <a:xfrm>
            <a:off x="1280160" y="5254752"/>
            <a:ext cx="6461760" cy="426720"/>
          </a:xfrm>
          <a:prstGeom prst="rect">
            <a:avLst/>
          </a:prstGeom>
          <a:noFill/>
          <a:ln/>
        </p:spPr>
        <p:txBody>
          <a:bodyPr wrap="square" lIns="0" tIns="0" rIns="0" bIns="0" rtlCol="0" anchor="ctr"/>
          <a:lstStyle/>
          <a:p>
            <a:r>
              <a:rPr lang="en-US" sz="1867" b="1" dirty="0">
                <a:solidFill>
                  <a:srgbClr val="FFFFFF"/>
                </a:solidFill>
                <a:latin typeface="Calibri" pitchFamily="34" charset="0"/>
                <a:ea typeface="Calibri" pitchFamily="34" charset="-122"/>
                <a:cs typeface="Calibri" pitchFamily="34" charset="-120"/>
              </a:rPr>
              <a:t>Evaluate the system’s effectiveness</a:t>
            </a:r>
            <a:endParaRPr lang="en-US" sz="1867" dirty="0"/>
          </a:p>
        </p:txBody>
      </p:sp>
      <p:sp>
        <p:nvSpPr>
          <p:cNvPr id="24" name="Text 20"/>
          <p:cNvSpPr/>
          <p:nvPr/>
        </p:nvSpPr>
        <p:spPr>
          <a:xfrm>
            <a:off x="1280160" y="5705856"/>
            <a:ext cx="6461760" cy="755904"/>
          </a:xfrm>
          <a:prstGeom prst="rect">
            <a:avLst/>
          </a:prstGeom>
          <a:noFill/>
          <a:ln/>
        </p:spPr>
        <p:txBody>
          <a:bodyPr wrap="square" rtlCol="0" anchor="ctr"/>
          <a:lstStyle/>
          <a:p>
            <a:r>
              <a:rPr lang="en-US" sz="1600" dirty="0">
                <a:solidFill>
                  <a:srgbClr val="AAAAAA"/>
                </a:solidFill>
                <a:latin typeface="Calibri" pitchFamily="34" charset="0"/>
                <a:ea typeface="Calibri" pitchFamily="34" charset="-122"/>
                <a:cs typeface="Calibri" pitchFamily="34" charset="-120"/>
              </a:rPr>
              <a:t>Log attacker interactions to see what they’re trying to do.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MOTIVATION AND BACKGROUND</a:t>
            </a:r>
            <a:endParaRPr lang="en-US" sz="3733" dirty="0"/>
          </a:p>
        </p:txBody>
      </p:sp>
      <p:pic>
        <p:nvPicPr>
          <p:cNvPr id="7" name="Image 0" descr="preencoded.png"/>
          <p:cNvPicPr>
            <a:picLocks noChangeAspect="1"/>
          </p:cNvPicPr>
          <p:nvPr/>
        </p:nvPicPr>
        <p:blipFill>
          <a:blip r:embed="rId3"/>
          <a:stretch>
            <a:fillRect/>
          </a:stretch>
        </p:blipFill>
        <p:spPr>
          <a:xfrm>
            <a:off x="9601200" y="4366913"/>
            <a:ext cx="2499360" cy="1678142"/>
          </a:xfrm>
          <a:prstGeom prst="rect">
            <a:avLst/>
          </a:prstGeom>
        </p:spPr>
      </p:pic>
      <p:pic>
        <p:nvPicPr>
          <p:cNvPr id="8" name="Image 1" descr="preencoded.png"/>
          <p:cNvPicPr>
            <a:picLocks noChangeAspect="1"/>
          </p:cNvPicPr>
          <p:nvPr/>
        </p:nvPicPr>
        <p:blipFill>
          <a:blip r:embed="rId4"/>
          <a:stretch>
            <a:fillRect/>
          </a:stretch>
        </p:blipFill>
        <p:spPr>
          <a:xfrm>
            <a:off x="7680960" y="4087368"/>
            <a:ext cx="1828800" cy="1975104"/>
          </a:xfrm>
          <a:prstGeom prst="rect">
            <a:avLst/>
          </a:prstGeom>
        </p:spPr>
      </p:pic>
      <p:pic>
        <p:nvPicPr>
          <p:cNvPr id="9" name="Image 2" descr="preencoded.png"/>
          <p:cNvPicPr>
            <a:picLocks noChangeAspect="1"/>
          </p:cNvPicPr>
          <p:nvPr/>
        </p:nvPicPr>
        <p:blipFill>
          <a:blip r:embed="rId5"/>
          <a:stretch>
            <a:fillRect/>
          </a:stretch>
        </p:blipFill>
        <p:spPr>
          <a:xfrm>
            <a:off x="7719060" y="143339"/>
            <a:ext cx="4267200" cy="3736683"/>
          </a:xfrm>
          <a:prstGeom prst="rect">
            <a:avLst/>
          </a:prstGeom>
        </p:spPr>
      </p:pic>
      <p:sp>
        <p:nvSpPr>
          <p:cNvPr id="10" name="Text 5"/>
          <p:cNvSpPr/>
          <p:nvPr/>
        </p:nvSpPr>
        <p:spPr>
          <a:xfrm>
            <a:off x="548640" y="1097280"/>
            <a:ext cx="6827520" cy="402336"/>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  Traditional Security Measures</a:t>
            </a:r>
            <a:endParaRPr lang="en-US" sz="1733" dirty="0"/>
          </a:p>
        </p:txBody>
      </p:sp>
      <p:sp>
        <p:nvSpPr>
          <p:cNvPr id="11" name="Text 6"/>
          <p:cNvSpPr/>
          <p:nvPr/>
        </p:nvSpPr>
        <p:spPr>
          <a:xfrm>
            <a:off x="792480" y="1359408"/>
            <a:ext cx="6644640" cy="877824"/>
          </a:xfrm>
          <a:prstGeom prst="rect">
            <a:avLst/>
          </a:prstGeom>
          <a:noFill/>
          <a:ln/>
        </p:spPr>
        <p:txBody>
          <a:bodyPr wrap="square" rtlCol="0" anchor="ctr"/>
          <a:lstStyle/>
          <a:p>
            <a:r>
              <a:rPr lang="en-US" sz="1533" dirty="0">
                <a:solidFill>
                  <a:srgbClr val="AAAAAA"/>
                </a:solidFill>
                <a:latin typeface="Calibri" pitchFamily="34" charset="0"/>
                <a:ea typeface="Calibri" pitchFamily="34" charset="-122"/>
                <a:cs typeface="Calibri" pitchFamily="34" charset="-120"/>
              </a:rPr>
              <a:t>Firewalls and most IDS are rule-based — they only catch known signatures. Zero-day attacks slip through.</a:t>
            </a:r>
            <a:endParaRPr lang="en-US" sz="1533" dirty="0"/>
          </a:p>
        </p:txBody>
      </p:sp>
      <p:sp>
        <p:nvSpPr>
          <p:cNvPr id="12" name="Text 7"/>
          <p:cNvSpPr/>
          <p:nvPr/>
        </p:nvSpPr>
        <p:spPr>
          <a:xfrm>
            <a:off x="548640" y="2499360"/>
            <a:ext cx="6827520" cy="402336"/>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  Role of Honeypots</a:t>
            </a:r>
            <a:endParaRPr lang="en-US" sz="1733" dirty="0"/>
          </a:p>
        </p:txBody>
      </p:sp>
      <p:sp>
        <p:nvSpPr>
          <p:cNvPr id="13" name="Text 8"/>
          <p:cNvSpPr/>
          <p:nvPr/>
        </p:nvSpPr>
        <p:spPr>
          <a:xfrm>
            <a:off x="792480" y="2653030"/>
            <a:ext cx="6644640" cy="877824"/>
          </a:xfrm>
          <a:prstGeom prst="rect">
            <a:avLst/>
          </a:prstGeom>
          <a:noFill/>
          <a:ln/>
        </p:spPr>
        <p:txBody>
          <a:bodyPr wrap="square" rtlCol="0" anchor="ctr"/>
          <a:lstStyle/>
          <a:p>
            <a:r>
              <a:rPr lang="en-US" sz="1533" dirty="0">
                <a:solidFill>
                  <a:srgbClr val="AAAAAA"/>
                </a:solidFill>
                <a:latin typeface="Calibri" pitchFamily="34" charset="0"/>
                <a:ea typeface="Calibri" pitchFamily="34" charset="-122"/>
                <a:cs typeface="Calibri" pitchFamily="34" charset="-120"/>
              </a:rPr>
              <a:t>Honeypots don't block attacks, instead they observe them.</a:t>
            </a:r>
            <a:endParaRPr lang="en-US" sz="1533" dirty="0"/>
          </a:p>
        </p:txBody>
      </p:sp>
      <p:sp>
        <p:nvSpPr>
          <p:cNvPr id="14" name="Text 9"/>
          <p:cNvSpPr/>
          <p:nvPr/>
        </p:nvSpPr>
        <p:spPr>
          <a:xfrm>
            <a:off x="548640" y="3901440"/>
            <a:ext cx="6827520" cy="402336"/>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  Related Work: T-POT &amp; Honeyd</a:t>
            </a:r>
            <a:endParaRPr lang="en-US" sz="1733" dirty="0"/>
          </a:p>
        </p:txBody>
      </p:sp>
      <p:sp>
        <p:nvSpPr>
          <p:cNvPr id="15" name="Text 10"/>
          <p:cNvSpPr/>
          <p:nvPr/>
        </p:nvSpPr>
        <p:spPr>
          <a:xfrm>
            <a:off x="792480" y="4328160"/>
            <a:ext cx="6644640" cy="877824"/>
          </a:xfrm>
          <a:prstGeom prst="rect">
            <a:avLst/>
          </a:prstGeom>
          <a:noFill/>
          <a:ln/>
        </p:spPr>
        <p:txBody>
          <a:bodyPr wrap="square" rtlCol="0" anchor="ctr"/>
          <a:lstStyle/>
          <a:p>
            <a:r>
              <a:rPr lang="en-US" sz="1533" dirty="0">
                <a:solidFill>
                  <a:srgbClr val="AAAAAA"/>
                </a:solidFill>
                <a:latin typeface="Calibri" pitchFamily="34" charset="0"/>
                <a:ea typeface="Calibri" pitchFamily="34" charset="-122"/>
                <a:cs typeface="Calibri" pitchFamily="34" charset="-120"/>
              </a:rPr>
              <a:t>T-POT (Deutsche Telekom) supports 20+ honeypots. Honeyd simulates networks. Both are static and can run a predefined number of honeypots and can't scale up during high-volume attacks or down during quiet periods.</a:t>
            </a:r>
            <a:endParaRPr lang="en-US" sz="1533" dirty="0"/>
          </a:p>
        </p:txBody>
      </p:sp>
      <p:sp>
        <p:nvSpPr>
          <p:cNvPr id="16" name="Text 11"/>
          <p:cNvSpPr/>
          <p:nvPr/>
        </p:nvSpPr>
        <p:spPr>
          <a:xfrm>
            <a:off x="548640" y="5303520"/>
            <a:ext cx="6827520" cy="402336"/>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  How HoneyCon is Different</a:t>
            </a:r>
            <a:endParaRPr lang="en-US" sz="1733" dirty="0"/>
          </a:p>
        </p:txBody>
      </p:sp>
      <p:sp>
        <p:nvSpPr>
          <p:cNvPr id="17" name="Text 12"/>
          <p:cNvSpPr/>
          <p:nvPr/>
        </p:nvSpPr>
        <p:spPr>
          <a:xfrm>
            <a:off x="792480" y="5425948"/>
            <a:ext cx="6644640" cy="877824"/>
          </a:xfrm>
          <a:prstGeom prst="rect">
            <a:avLst/>
          </a:prstGeom>
          <a:noFill/>
          <a:ln/>
        </p:spPr>
        <p:txBody>
          <a:bodyPr wrap="square" rtlCol="0" anchor="ctr"/>
          <a:lstStyle/>
          <a:p>
            <a:r>
              <a:rPr lang="en-US" sz="1533" dirty="0">
                <a:solidFill>
                  <a:srgbClr val="AAAAAA"/>
                </a:solidFill>
                <a:latin typeface="Calibri" pitchFamily="34" charset="0"/>
                <a:ea typeface="Calibri" pitchFamily="34" charset="-122"/>
                <a:cs typeface="Calibri" pitchFamily="34" charset="-120"/>
              </a:rPr>
              <a:t>Dynamic yet lightweight  </a:t>
            </a:r>
            <a:endParaRPr lang="en-US" sz="153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SYSTEM DESIGN &amp; ARCHITECTURE</a:t>
            </a:r>
            <a:endParaRPr lang="en-US" sz="3733" dirty="0"/>
          </a:p>
        </p:txBody>
      </p:sp>
      <p:sp>
        <p:nvSpPr>
          <p:cNvPr id="7" name="Text 5"/>
          <p:cNvSpPr/>
          <p:nvPr/>
        </p:nvSpPr>
        <p:spPr>
          <a:xfrm>
            <a:off x="609600" y="1097280"/>
            <a:ext cx="10972800" cy="487680"/>
          </a:xfrm>
          <a:prstGeom prst="rect">
            <a:avLst/>
          </a:prstGeom>
          <a:noFill/>
          <a:ln/>
        </p:spPr>
        <p:txBody>
          <a:bodyPr wrap="square" rtlCol="0" anchor="ctr"/>
          <a:lstStyle/>
          <a:p>
            <a:r>
              <a:rPr lang="en-US" sz="1867" dirty="0">
                <a:solidFill>
                  <a:srgbClr val="AAAAAA"/>
                </a:solidFill>
                <a:latin typeface="Calibri" pitchFamily="34" charset="0"/>
                <a:ea typeface="Calibri" pitchFamily="34" charset="-122"/>
                <a:cs typeface="Calibri" pitchFamily="34" charset="-120"/>
              </a:rPr>
              <a:t>HoneyCon uses a 3 tier architecture – each layer has a distinct job.</a:t>
            </a:r>
            <a:endParaRPr lang="en-US" sz="1867" dirty="0"/>
          </a:p>
        </p:txBody>
      </p:sp>
      <p:sp>
        <p:nvSpPr>
          <p:cNvPr id="8" name="Shape 6"/>
          <p:cNvSpPr/>
          <p:nvPr/>
        </p:nvSpPr>
        <p:spPr>
          <a:xfrm>
            <a:off x="365760" y="170688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9" name="Shape 7"/>
          <p:cNvSpPr/>
          <p:nvPr/>
        </p:nvSpPr>
        <p:spPr>
          <a:xfrm>
            <a:off x="365760" y="170688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0" name="Text 8"/>
          <p:cNvSpPr/>
          <p:nvPr/>
        </p:nvSpPr>
        <p:spPr>
          <a:xfrm>
            <a:off x="670560" y="178003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① DETECTION LAYER</a:t>
            </a:r>
            <a:endParaRPr lang="en-US" sz="1600" dirty="0"/>
          </a:p>
        </p:txBody>
      </p:sp>
      <p:sp>
        <p:nvSpPr>
          <p:cNvPr id="11" name="Text 9"/>
          <p:cNvSpPr/>
          <p:nvPr/>
        </p:nvSpPr>
        <p:spPr>
          <a:xfrm>
            <a:off x="670560" y="2194560"/>
            <a:ext cx="3657600" cy="304800"/>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OSKen SDN Controller + Open vSwitch</a:t>
            </a:r>
            <a:endParaRPr lang="en-US" sz="1400" dirty="0"/>
          </a:p>
        </p:txBody>
      </p:sp>
      <p:sp>
        <p:nvSpPr>
          <p:cNvPr id="12" name="Text 10"/>
          <p:cNvSpPr/>
          <p:nvPr/>
        </p:nvSpPr>
        <p:spPr>
          <a:xfrm>
            <a:off x="3482340" y="1780032"/>
            <a:ext cx="7071360" cy="128016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Every packet passes through the OVS switch. The OSKen controller listens for PacketIn events. It checks the TCP header for the SYN bit (0x02). On detection, it logs the source IP and increments a counter file (syn_count.txt).</a:t>
            </a:r>
            <a:endParaRPr lang="en-US" sz="1467" dirty="0"/>
          </a:p>
        </p:txBody>
      </p:sp>
      <p:sp>
        <p:nvSpPr>
          <p:cNvPr id="13" name="Text 11"/>
          <p:cNvSpPr/>
          <p:nvPr/>
        </p:nvSpPr>
        <p:spPr>
          <a:xfrm>
            <a:off x="5852160" y="3169920"/>
            <a:ext cx="487680" cy="182880"/>
          </a:xfrm>
          <a:prstGeom prst="rect">
            <a:avLst/>
          </a:prstGeom>
          <a:noFill/>
          <a:ln/>
        </p:spPr>
        <p:txBody>
          <a:bodyPr wrap="square" lIns="0" tIns="0" rIns="0" bIns="0" rtlCol="0" anchor="ctr"/>
          <a:lstStyle/>
          <a:p>
            <a:pPr algn="ctr"/>
            <a:r>
              <a:rPr lang="en-US" sz="1200" dirty="0">
                <a:solidFill>
                  <a:srgbClr val="AAAAAA"/>
                </a:solidFill>
              </a:rPr>
              <a:t>▼</a:t>
            </a:r>
            <a:endParaRPr lang="en-US" sz="1200" dirty="0"/>
          </a:p>
        </p:txBody>
      </p:sp>
      <p:sp>
        <p:nvSpPr>
          <p:cNvPr id="14" name="Shape 12"/>
          <p:cNvSpPr/>
          <p:nvPr/>
        </p:nvSpPr>
        <p:spPr>
          <a:xfrm>
            <a:off x="365760" y="335280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15" name="Shape 13"/>
          <p:cNvSpPr/>
          <p:nvPr/>
        </p:nvSpPr>
        <p:spPr>
          <a:xfrm>
            <a:off x="365760" y="335280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6" name="Text 14"/>
          <p:cNvSpPr/>
          <p:nvPr/>
        </p:nvSpPr>
        <p:spPr>
          <a:xfrm>
            <a:off x="670560" y="342595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② ORCHESTRATION LAYER</a:t>
            </a:r>
            <a:endParaRPr lang="en-US" sz="1600" dirty="0"/>
          </a:p>
        </p:txBody>
      </p:sp>
      <p:sp>
        <p:nvSpPr>
          <p:cNvPr id="17" name="Text 15"/>
          <p:cNvSpPr/>
          <p:nvPr/>
        </p:nvSpPr>
        <p:spPr>
          <a:xfrm>
            <a:off x="670560" y="3840480"/>
            <a:ext cx="3657600" cy="304800"/>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honeypot-scaling.py</a:t>
            </a:r>
            <a:endParaRPr lang="en-US" sz="1400" dirty="0"/>
          </a:p>
        </p:txBody>
      </p:sp>
      <p:sp>
        <p:nvSpPr>
          <p:cNvPr id="18" name="Text 16"/>
          <p:cNvSpPr/>
          <p:nvPr/>
        </p:nvSpPr>
        <p:spPr>
          <a:xfrm>
            <a:off x="3482340" y="3425952"/>
            <a:ext cx="7071360" cy="128016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Checks syn_count.txt every second. When count ≥ traffic threshold, runs docker run to start a new Cowrie container, assigns port 2222+N. When threshold hits 0 for 3 seconds -removes the previous container.</a:t>
            </a:r>
            <a:endParaRPr lang="en-US" sz="1467" dirty="0"/>
          </a:p>
        </p:txBody>
      </p:sp>
      <p:sp>
        <p:nvSpPr>
          <p:cNvPr id="19" name="Text 17"/>
          <p:cNvSpPr/>
          <p:nvPr/>
        </p:nvSpPr>
        <p:spPr>
          <a:xfrm>
            <a:off x="5852160" y="4815840"/>
            <a:ext cx="487680" cy="182880"/>
          </a:xfrm>
          <a:prstGeom prst="rect">
            <a:avLst/>
          </a:prstGeom>
          <a:noFill/>
          <a:ln/>
        </p:spPr>
        <p:txBody>
          <a:bodyPr wrap="square" lIns="0" tIns="0" rIns="0" bIns="0" rtlCol="0" anchor="ctr"/>
          <a:lstStyle/>
          <a:p>
            <a:pPr algn="ctr"/>
            <a:r>
              <a:rPr lang="en-US" sz="1200" dirty="0">
                <a:solidFill>
                  <a:srgbClr val="AAAAAA"/>
                </a:solidFill>
              </a:rPr>
              <a:t>▼</a:t>
            </a:r>
            <a:endParaRPr lang="en-US" sz="1200" dirty="0"/>
          </a:p>
        </p:txBody>
      </p:sp>
      <p:sp>
        <p:nvSpPr>
          <p:cNvPr id="20" name="Shape 18"/>
          <p:cNvSpPr/>
          <p:nvPr/>
        </p:nvSpPr>
        <p:spPr>
          <a:xfrm>
            <a:off x="365760" y="499872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21" name="Shape 19"/>
          <p:cNvSpPr/>
          <p:nvPr/>
        </p:nvSpPr>
        <p:spPr>
          <a:xfrm>
            <a:off x="365760" y="499872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22" name="Text 20"/>
          <p:cNvSpPr/>
          <p:nvPr/>
        </p:nvSpPr>
        <p:spPr>
          <a:xfrm>
            <a:off x="670560" y="507187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③ DECEPTION LAYER</a:t>
            </a:r>
            <a:endParaRPr lang="en-US" sz="1600" dirty="0"/>
          </a:p>
        </p:txBody>
      </p:sp>
      <p:sp>
        <p:nvSpPr>
          <p:cNvPr id="23" name="Text 21"/>
          <p:cNvSpPr/>
          <p:nvPr/>
        </p:nvSpPr>
        <p:spPr>
          <a:xfrm>
            <a:off x="670560" y="5486400"/>
            <a:ext cx="3657600" cy="304800"/>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Cowrie Docker Containers</a:t>
            </a:r>
            <a:endParaRPr lang="en-US" sz="1400" dirty="0"/>
          </a:p>
        </p:txBody>
      </p:sp>
      <p:sp>
        <p:nvSpPr>
          <p:cNvPr id="24" name="Text 22"/>
          <p:cNvSpPr/>
          <p:nvPr/>
        </p:nvSpPr>
        <p:spPr>
          <a:xfrm>
            <a:off x="3482340" y="5071872"/>
            <a:ext cx="7071360" cy="128016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Each Cowrie container presents a fake SSH server. Login attempts and all commands are silently logged. </a:t>
            </a:r>
            <a:endParaRPr lang="en-US" sz="146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14116-A986-52FD-902C-E2E4CA7691DD}"/>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9058C824-6258-C1A1-3AC9-B13290A35D80}"/>
              </a:ext>
            </a:extLst>
          </p:cNvPr>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SYSTEM DESIGN &amp; ARCHITECTURE</a:t>
            </a:r>
            <a:endParaRPr lang="en-US" sz="3733" dirty="0"/>
          </a:p>
        </p:txBody>
      </p:sp>
      <p:sp>
        <p:nvSpPr>
          <p:cNvPr id="7" name="Text 5">
            <a:extLst>
              <a:ext uri="{FF2B5EF4-FFF2-40B4-BE49-F238E27FC236}">
                <a16:creationId xmlns:a16="http://schemas.microsoft.com/office/drawing/2014/main" id="{B8E1E92E-7F44-C997-E886-7378B779DB33}"/>
              </a:ext>
            </a:extLst>
          </p:cNvPr>
          <p:cNvSpPr/>
          <p:nvPr/>
        </p:nvSpPr>
        <p:spPr>
          <a:xfrm>
            <a:off x="609600" y="1097280"/>
            <a:ext cx="10972800" cy="487680"/>
          </a:xfrm>
          <a:prstGeom prst="rect">
            <a:avLst/>
          </a:prstGeom>
          <a:noFill/>
          <a:ln/>
        </p:spPr>
        <p:txBody>
          <a:bodyPr wrap="square" rtlCol="0" anchor="ctr"/>
          <a:lstStyle/>
          <a:p>
            <a:r>
              <a:rPr lang="en-US" sz="1867" dirty="0"/>
              <a:t>Code snippets</a:t>
            </a:r>
          </a:p>
        </p:txBody>
      </p:sp>
      <p:sp>
        <p:nvSpPr>
          <p:cNvPr id="8" name="Shape 6">
            <a:extLst>
              <a:ext uri="{FF2B5EF4-FFF2-40B4-BE49-F238E27FC236}">
                <a16:creationId xmlns:a16="http://schemas.microsoft.com/office/drawing/2014/main" id="{56E74AD5-93F2-E383-CCCA-1039EAF4ABF3}"/>
              </a:ext>
            </a:extLst>
          </p:cNvPr>
          <p:cNvSpPr/>
          <p:nvPr/>
        </p:nvSpPr>
        <p:spPr>
          <a:xfrm>
            <a:off x="365760" y="170688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9" name="Shape 7">
            <a:extLst>
              <a:ext uri="{FF2B5EF4-FFF2-40B4-BE49-F238E27FC236}">
                <a16:creationId xmlns:a16="http://schemas.microsoft.com/office/drawing/2014/main" id="{CD95A3F5-6090-0C47-BF40-47438D26E8F2}"/>
              </a:ext>
            </a:extLst>
          </p:cNvPr>
          <p:cNvSpPr/>
          <p:nvPr/>
        </p:nvSpPr>
        <p:spPr>
          <a:xfrm>
            <a:off x="365760" y="170688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0" name="Text 8">
            <a:extLst>
              <a:ext uri="{FF2B5EF4-FFF2-40B4-BE49-F238E27FC236}">
                <a16:creationId xmlns:a16="http://schemas.microsoft.com/office/drawing/2014/main" id="{3BFF38BD-F72E-90C5-6C99-4604F0503774}"/>
              </a:ext>
            </a:extLst>
          </p:cNvPr>
          <p:cNvSpPr/>
          <p:nvPr/>
        </p:nvSpPr>
        <p:spPr>
          <a:xfrm>
            <a:off x="670560" y="178003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① DETECTION LAYER</a:t>
            </a:r>
            <a:endParaRPr lang="en-US" sz="1600" dirty="0"/>
          </a:p>
        </p:txBody>
      </p:sp>
      <p:sp>
        <p:nvSpPr>
          <p:cNvPr id="13" name="Text 11">
            <a:extLst>
              <a:ext uri="{FF2B5EF4-FFF2-40B4-BE49-F238E27FC236}">
                <a16:creationId xmlns:a16="http://schemas.microsoft.com/office/drawing/2014/main" id="{DCD4BF10-41B8-B122-9B72-C56321ED740B}"/>
              </a:ext>
            </a:extLst>
          </p:cNvPr>
          <p:cNvSpPr/>
          <p:nvPr/>
        </p:nvSpPr>
        <p:spPr>
          <a:xfrm>
            <a:off x="5852160" y="3169920"/>
            <a:ext cx="487680" cy="182880"/>
          </a:xfrm>
          <a:prstGeom prst="rect">
            <a:avLst/>
          </a:prstGeom>
          <a:noFill/>
          <a:ln/>
        </p:spPr>
        <p:txBody>
          <a:bodyPr wrap="square" lIns="0" tIns="0" rIns="0" bIns="0" rtlCol="0" anchor="ctr"/>
          <a:lstStyle/>
          <a:p>
            <a:pPr algn="ctr"/>
            <a:r>
              <a:rPr lang="en-US" sz="1200" dirty="0">
                <a:solidFill>
                  <a:srgbClr val="AAAAAA"/>
                </a:solidFill>
              </a:rPr>
              <a:t>▼</a:t>
            </a:r>
            <a:endParaRPr lang="en-US" sz="1200" dirty="0"/>
          </a:p>
        </p:txBody>
      </p:sp>
      <p:sp>
        <p:nvSpPr>
          <p:cNvPr id="14" name="Shape 12">
            <a:extLst>
              <a:ext uri="{FF2B5EF4-FFF2-40B4-BE49-F238E27FC236}">
                <a16:creationId xmlns:a16="http://schemas.microsoft.com/office/drawing/2014/main" id="{C8F1B383-E5EA-7ABF-84E9-F98CCBEC8F00}"/>
              </a:ext>
            </a:extLst>
          </p:cNvPr>
          <p:cNvSpPr/>
          <p:nvPr/>
        </p:nvSpPr>
        <p:spPr>
          <a:xfrm>
            <a:off x="365760" y="335280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15" name="Shape 13">
            <a:extLst>
              <a:ext uri="{FF2B5EF4-FFF2-40B4-BE49-F238E27FC236}">
                <a16:creationId xmlns:a16="http://schemas.microsoft.com/office/drawing/2014/main" id="{6853447E-3168-7F40-5CCA-430D754F095C}"/>
              </a:ext>
            </a:extLst>
          </p:cNvPr>
          <p:cNvSpPr/>
          <p:nvPr/>
        </p:nvSpPr>
        <p:spPr>
          <a:xfrm>
            <a:off x="365760" y="335280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6" name="Text 14">
            <a:extLst>
              <a:ext uri="{FF2B5EF4-FFF2-40B4-BE49-F238E27FC236}">
                <a16:creationId xmlns:a16="http://schemas.microsoft.com/office/drawing/2014/main" id="{264C3086-4251-6601-61CA-FC706C719803}"/>
              </a:ext>
            </a:extLst>
          </p:cNvPr>
          <p:cNvSpPr/>
          <p:nvPr/>
        </p:nvSpPr>
        <p:spPr>
          <a:xfrm>
            <a:off x="670560" y="342595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② ORCHESTRATION LAYER</a:t>
            </a:r>
            <a:endParaRPr lang="en-US" sz="1600" dirty="0"/>
          </a:p>
        </p:txBody>
      </p:sp>
      <p:sp>
        <p:nvSpPr>
          <p:cNvPr id="19" name="Text 17">
            <a:extLst>
              <a:ext uri="{FF2B5EF4-FFF2-40B4-BE49-F238E27FC236}">
                <a16:creationId xmlns:a16="http://schemas.microsoft.com/office/drawing/2014/main" id="{54F4AD73-5840-4620-5CBB-4ED8D45A0CF6}"/>
              </a:ext>
            </a:extLst>
          </p:cNvPr>
          <p:cNvSpPr/>
          <p:nvPr/>
        </p:nvSpPr>
        <p:spPr>
          <a:xfrm>
            <a:off x="5852160" y="4815840"/>
            <a:ext cx="487680" cy="182880"/>
          </a:xfrm>
          <a:prstGeom prst="rect">
            <a:avLst/>
          </a:prstGeom>
          <a:noFill/>
          <a:ln/>
        </p:spPr>
        <p:txBody>
          <a:bodyPr wrap="square" lIns="0" tIns="0" rIns="0" bIns="0" rtlCol="0" anchor="ctr"/>
          <a:lstStyle/>
          <a:p>
            <a:pPr algn="ctr"/>
            <a:r>
              <a:rPr lang="en-US" sz="1200" dirty="0">
                <a:solidFill>
                  <a:srgbClr val="AAAAAA"/>
                </a:solidFill>
              </a:rPr>
              <a:t>▼</a:t>
            </a:r>
            <a:endParaRPr lang="en-US" sz="1200" dirty="0"/>
          </a:p>
        </p:txBody>
      </p:sp>
      <p:sp>
        <p:nvSpPr>
          <p:cNvPr id="20" name="Shape 18">
            <a:extLst>
              <a:ext uri="{FF2B5EF4-FFF2-40B4-BE49-F238E27FC236}">
                <a16:creationId xmlns:a16="http://schemas.microsoft.com/office/drawing/2014/main" id="{15E1BABB-4FA9-D362-BD55-26DA732172AB}"/>
              </a:ext>
            </a:extLst>
          </p:cNvPr>
          <p:cNvSpPr/>
          <p:nvPr/>
        </p:nvSpPr>
        <p:spPr>
          <a:xfrm>
            <a:off x="365760" y="4998720"/>
            <a:ext cx="11460480" cy="1438656"/>
          </a:xfrm>
          <a:prstGeom prst="rect">
            <a:avLst/>
          </a:prstGeom>
          <a:solidFill>
            <a:srgbClr val="252530">
              <a:alpha val="90000"/>
            </a:srgbClr>
          </a:solidFill>
          <a:ln w="19050">
            <a:solidFill>
              <a:schemeClr val="tx1"/>
            </a:solidFill>
            <a:prstDash val="solid"/>
          </a:ln>
        </p:spPr>
        <p:txBody>
          <a:bodyPr/>
          <a:lstStyle/>
          <a:p>
            <a:endParaRPr lang="en-GB" sz="2400"/>
          </a:p>
        </p:txBody>
      </p:sp>
      <p:sp>
        <p:nvSpPr>
          <p:cNvPr id="21" name="Shape 19">
            <a:extLst>
              <a:ext uri="{FF2B5EF4-FFF2-40B4-BE49-F238E27FC236}">
                <a16:creationId xmlns:a16="http://schemas.microsoft.com/office/drawing/2014/main" id="{7977AFC5-F486-4F30-1CFE-AB06D1DCBC9C}"/>
              </a:ext>
            </a:extLst>
          </p:cNvPr>
          <p:cNvSpPr/>
          <p:nvPr/>
        </p:nvSpPr>
        <p:spPr>
          <a:xfrm>
            <a:off x="365760" y="4998720"/>
            <a:ext cx="121920" cy="1438656"/>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22" name="Text 20">
            <a:extLst>
              <a:ext uri="{FF2B5EF4-FFF2-40B4-BE49-F238E27FC236}">
                <a16:creationId xmlns:a16="http://schemas.microsoft.com/office/drawing/2014/main" id="{65B0625D-E9F1-5438-494B-3969E955F680}"/>
              </a:ext>
            </a:extLst>
          </p:cNvPr>
          <p:cNvSpPr/>
          <p:nvPr/>
        </p:nvSpPr>
        <p:spPr>
          <a:xfrm>
            <a:off x="670560" y="5071872"/>
            <a:ext cx="3657600" cy="365760"/>
          </a:xfrm>
          <a:prstGeom prst="rect">
            <a:avLst/>
          </a:prstGeom>
          <a:noFill/>
          <a:ln/>
        </p:spPr>
        <p:txBody>
          <a:bodyPr wrap="square" lIns="0" tIns="0" rIns="0" bIns="0" rtlCol="0" anchor="ctr"/>
          <a:lstStyle/>
          <a:p>
            <a:r>
              <a:rPr lang="en-US" sz="1600" b="1" dirty="0">
                <a:latin typeface="Calibri" pitchFamily="34" charset="0"/>
                <a:ea typeface="Calibri" pitchFamily="34" charset="-122"/>
                <a:cs typeface="Calibri" pitchFamily="34" charset="-120"/>
              </a:rPr>
              <a:t>③ DECEPTION LAYER</a:t>
            </a:r>
            <a:endParaRPr lang="en-US" sz="1600" dirty="0"/>
          </a:p>
        </p:txBody>
      </p:sp>
      <p:sp>
        <p:nvSpPr>
          <p:cNvPr id="23" name="Text 21">
            <a:extLst>
              <a:ext uri="{FF2B5EF4-FFF2-40B4-BE49-F238E27FC236}">
                <a16:creationId xmlns:a16="http://schemas.microsoft.com/office/drawing/2014/main" id="{3A7AF06F-7518-9B79-2BA5-CF1528C968B6}"/>
              </a:ext>
            </a:extLst>
          </p:cNvPr>
          <p:cNvSpPr/>
          <p:nvPr/>
        </p:nvSpPr>
        <p:spPr>
          <a:xfrm>
            <a:off x="670560" y="5486400"/>
            <a:ext cx="3657600" cy="304800"/>
          </a:xfrm>
          <a:prstGeom prst="rect">
            <a:avLst/>
          </a:prstGeom>
          <a:noFill/>
          <a:ln/>
        </p:spPr>
        <p:txBody>
          <a:bodyPr wrap="square" lIns="0" tIns="0" rIns="0" bIns="0" rtlCol="0" anchor="ctr"/>
          <a:lstStyle/>
          <a:p>
            <a:endParaRPr lang="en-US" sz="1400" dirty="0"/>
          </a:p>
        </p:txBody>
      </p:sp>
      <p:pic>
        <p:nvPicPr>
          <p:cNvPr id="27" name="Picture 26">
            <a:extLst>
              <a:ext uri="{FF2B5EF4-FFF2-40B4-BE49-F238E27FC236}">
                <a16:creationId xmlns:a16="http://schemas.microsoft.com/office/drawing/2014/main" id="{2D1F9983-D41B-AFE5-495A-664732A42CC6}"/>
              </a:ext>
            </a:extLst>
          </p:cNvPr>
          <p:cNvPicPr>
            <a:picLocks noChangeAspect="1"/>
          </p:cNvPicPr>
          <p:nvPr/>
        </p:nvPicPr>
        <p:blipFill>
          <a:blip r:embed="rId3"/>
          <a:stretch>
            <a:fillRect/>
          </a:stretch>
        </p:blipFill>
        <p:spPr>
          <a:xfrm>
            <a:off x="5321219" y="3795346"/>
            <a:ext cx="3186556" cy="761786"/>
          </a:xfrm>
          <a:prstGeom prst="rect">
            <a:avLst/>
          </a:prstGeom>
        </p:spPr>
      </p:pic>
      <p:pic>
        <p:nvPicPr>
          <p:cNvPr id="30" name="Picture 29">
            <a:extLst>
              <a:ext uri="{FF2B5EF4-FFF2-40B4-BE49-F238E27FC236}">
                <a16:creationId xmlns:a16="http://schemas.microsoft.com/office/drawing/2014/main" id="{38F8A031-620E-34FC-D60E-AB047EACA019}"/>
              </a:ext>
            </a:extLst>
          </p:cNvPr>
          <p:cNvPicPr>
            <a:picLocks noChangeAspect="1"/>
          </p:cNvPicPr>
          <p:nvPr/>
        </p:nvPicPr>
        <p:blipFill>
          <a:blip r:embed="rId4"/>
          <a:stretch>
            <a:fillRect/>
          </a:stretch>
        </p:blipFill>
        <p:spPr>
          <a:xfrm>
            <a:off x="580074" y="3795346"/>
            <a:ext cx="4650659" cy="761786"/>
          </a:xfrm>
          <a:prstGeom prst="rect">
            <a:avLst/>
          </a:prstGeom>
        </p:spPr>
      </p:pic>
      <p:pic>
        <p:nvPicPr>
          <p:cNvPr id="32" name="Picture 31">
            <a:extLst>
              <a:ext uri="{FF2B5EF4-FFF2-40B4-BE49-F238E27FC236}">
                <a16:creationId xmlns:a16="http://schemas.microsoft.com/office/drawing/2014/main" id="{3EB2117D-57C7-5591-CDAE-8269AA290575}"/>
              </a:ext>
            </a:extLst>
          </p:cNvPr>
          <p:cNvPicPr>
            <a:picLocks noChangeAspect="1"/>
          </p:cNvPicPr>
          <p:nvPr/>
        </p:nvPicPr>
        <p:blipFill>
          <a:blip r:embed="rId5"/>
          <a:stretch>
            <a:fillRect/>
          </a:stretch>
        </p:blipFill>
        <p:spPr>
          <a:xfrm>
            <a:off x="8598261" y="3446353"/>
            <a:ext cx="2854087" cy="1251550"/>
          </a:xfrm>
          <a:prstGeom prst="rect">
            <a:avLst/>
          </a:prstGeom>
        </p:spPr>
      </p:pic>
      <p:pic>
        <p:nvPicPr>
          <p:cNvPr id="34" name="Picture 33">
            <a:extLst>
              <a:ext uri="{FF2B5EF4-FFF2-40B4-BE49-F238E27FC236}">
                <a16:creationId xmlns:a16="http://schemas.microsoft.com/office/drawing/2014/main" id="{22449348-B61F-5D56-8B8F-95F4D57BF2D3}"/>
              </a:ext>
            </a:extLst>
          </p:cNvPr>
          <p:cNvPicPr>
            <a:picLocks noChangeAspect="1"/>
          </p:cNvPicPr>
          <p:nvPr/>
        </p:nvPicPr>
        <p:blipFill>
          <a:blip r:embed="rId6"/>
          <a:stretch>
            <a:fillRect/>
          </a:stretch>
        </p:blipFill>
        <p:spPr>
          <a:xfrm>
            <a:off x="5942020" y="5059382"/>
            <a:ext cx="5798026" cy="1317332"/>
          </a:xfrm>
          <a:prstGeom prst="rect">
            <a:avLst/>
          </a:prstGeom>
        </p:spPr>
      </p:pic>
      <p:sp>
        <p:nvSpPr>
          <p:cNvPr id="35" name="Title 34">
            <a:extLst>
              <a:ext uri="{FF2B5EF4-FFF2-40B4-BE49-F238E27FC236}">
                <a16:creationId xmlns:a16="http://schemas.microsoft.com/office/drawing/2014/main" id="{ED6A8AA6-1B10-D98D-C88B-4C7F62B578CC}"/>
              </a:ext>
            </a:extLst>
          </p:cNvPr>
          <p:cNvSpPr>
            <a:spLocks noGrp="1"/>
          </p:cNvSpPr>
          <p:nvPr>
            <p:ph type="title" idx="4294967295"/>
          </p:nvPr>
        </p:nvSpPr>
        <p:spPr/>
        <p:txBody>
          <a:bodyPr/>
          <a:lstStyle/>
          <a:p>
            <a:r>
              <a:rPr lang="en-GB" dirty="0"/>
              <a:t>	</a:t>
            </a:r>
          </a:p>
        </p:txBody>
      </p:sp>
      <p:pic>
        <p:nvPicPr>
          <p:cNvPr id="37" name="Picture 36">
            <a:extLst>
              <a:ext uri="{FF2B5EF4-FFF2-40B4-BE49-F238E27FC236}">
                <a16:creationId xmlns:a16="http://schemas.microsoft.com/office/drawing/2014/main" id="{735C8691-B7E3-CE60-98F3-AE8D3EA2C7F7}"/>
              </a:ext>
            </a:extLst>
          </p:cNvPr>
          <p:cNvPicPr>
            <a:picLocks noChangeAspect="1"/>
          </p:cNvPicPr>
          <p:nvPr/>
        </p:nvPicPr>
        <p:blipFill>
          <a:blip r:embed="rId7"/>
          <a:stretch>
            <a:fillRect/>
          </a:stretch>
        </p:blipFill>
        <p:spPr>
          <a:xfrm>
            <a:off x="7314336" y="1843066"/>
            <a:ext cx="3985065" cy="1160310"/>
          </a:xfrm>
          <a:prstGeom prst="rect">
            <a:avLst/>
          </a:prstGeom>
        </p:spPr>
      </p:pic>
      <p:pic>
        <p:nvPicPr>
          <p:cNvPr id="41" name="Picture 40">
            <a:extLst>
              <a:ext uri="{FF2B5EF4-FFF2-40B4-BE49-F238E27FC236}">
                <a16:creationId xmlns:a16="http://schemas.microsoft.com/office/drawing/2014/main" id="{F3701CEF-C038-D96E-376F-1F7E07A25CA9}"/>
              </a:ext>
            </a:extLst>
          </p:cNvPr>
          <p:cNvPicPr>
            <a:picLocks noChangeAspect="1"/>
          </p:cNvPicPr>
          <p:nvPr/>
        </p:nvPicPr>
        <p:blipFill>
          <a:blip r:embed="rId8"/>
          <a:stretch>
            <a:fillRect/>
          </a:stretch>
        </p:blipFill>
        <p:spPr>
          <a:xfrm>
            <a:off x="2964182" y="1350983"/>
            <a:ext cx="3493114" cy="1871770"/>
          </a:xfrm>
          <a:prstGeom prst="rect">
            <a:avLst/>
          </a:prstGeom>
        </p:spPr>
      </p:pic>
      <p:pic>
        <p:nvPicPr>
          <p:cNvPr id="3" name="Picture 2">
            <a:extLst>
              <a:ext uri="{FF2B5EF4-FFF2-40B4-BE49-F238E27FC236}">
                <a16:creationId xmlns:a16="http://schemas.microsoft.com/office/drawing/2014/main" id="{392BEBDE-DF06-F4C7-E8AD-C651A026F6F9}"/>
              </a:ext>
            </a:extLst>
          </p:cNvPr>
          <p:cNvPicPr>
            <a:picLocks noChangeAspect="1"/>
          </p:cNvPicPr>
          <p:nvPr/>
        </p:nvPicPr>
        <p:blipFill>
          <a:blip r:embed="rId9"/>
          <a:stretch>
            <a:fillRect/>
          </a:stretch>
        </p:blipFill>
        <p:spPr>
          <a:xfrm>
            <a:off x="806132" y="5564228"/>
            <a:ext cx="4707345" cy="723520"/>
          </a:xfrm>
          <a:prstGeom prst="rect">
            <a:avLst/>
          </a:prstGeom>
        </p:spPr>
      </p:pic>
    </p:spTree>
    <p:extLst>
      <p:ext uri="{BB962C8B-B14F-4D97-AF65-F5344CB8AC3E}">
        <p14:creationId xmlns:p14="http://schemas.microsoft.com/office/powerpoint/2010/main" val="3956598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NETWORK TOPOLOGY &amp; TRAFFIC REDIRECTION</a:t>
            </a:r>
            <a:endParaRPr lang="en-US" sz="3733" dirty="0"/>
          </a:p>
        </p:txBody>
      </p:sp>
      <p:sp>
        <p:nvSpPr>
          <p:cNvPr id="7" name="Shape 5"/>
          <p:cNvSpPr/>
          <p:nvPr/>
        </p:nvSpPr>
        <p:spPr>
          <a:xfrm>
            <a:off x="2584704" y="3681984"/>
            <a:ext cx="926592" cy="682752"/>
          </a:xfrm>
          <a:prstGeom prst="rect">
            <a:avLst/>
          </a:prstGeom>
          <a:solidFill>
            <a:srgbClr val="00B4D8"/>
          </a:solidFill>
          <a:ln w="12700">
            <a:solidFill>
              <a:srgbClr val="00B4D8"/>
            </a:solidFill>
            <a:prstDash val="solid"/>
          </a:ln>
        </p:spPr>
        <p:txBody>
          <a:bodyPr/>
          <a:lstStyle/>
          <a:p>
            <a:endParaRPr lang="en-GB" sz="2400"/>
          </a:p>
        </p:txBody>
      </p:sp>
      <p:sp>
        <p:nvSpPr>
          <p:cNvPr id="8" name="Text 6"/>
          <p:cNvSpPr/>
          <p:nvPr/>
        </p:nvSpPr>
        <p:spPr>
          <a:xfrm>
            <a:off x="2584704" y="3706368"/>
            <a:ext cx="926592" cy="633984"/>
          </a:xfrm>
          <a:prstGeom prst="rect">
            <a:avLst/>
          </a:prstGeom>
          <a:noFill/>
          <a:ln/>
        </p:spPr>
        <p:txBody>
          <a:bodyPr wrap="square" lIns="0" tIns="0" rIns="0" bIns="0" rtlCol="0" anchor="ctr"/>
          <a:lstStyle/>
          <a:p>
            <a:pPr algn="ctr"/>
            <a:r>
              <a:rPr lang="en-US" sz="1600" b="1" dirty="0">
                <a:solidFill>
                  <a:srgbClr val="1A1A1E"/>
                </a:solidFill>
              </a:rPr>
              <a:t>s1</a:t>
            </a:r>
            <a:endParaRPr lang="en-US" sz="1600" dirty="0"/>
          </a:p>
        </p:txBody>
      </p:sp>
      <p:sp>
        <p:nvSpPr>
          <p:cNvPr id="9" name="Shape 7"/>
          <p:cNvSpPr/>
          <p:nvPr/>
        </p:nvSpPr>
        <p:spPr>
          <a:xfrm>
            <a:off x="3048000" y="2316480"/>
            <a:ext cx="0" cy="1353312"/>
          </a:xfrm>
          <a:prstGeom prst="line">
            <a:avLst/>
          </a:prstGeom>
          <a:noFill/>
          <a:ln w="12700">
            <a:solidFill>
              <a:srgbClr val="AAAAAA">
                <a:alpha val="70000"/>
              </a:srgbClr>
            </a:solidFill>
            <a:prstDash val="solid"/>
          </a:ln>
        </p:spPr>
        <p:txBody>
          <a:bodyPr/>
          <a:lstStyle/>
          <a:p>
            <a:endParaRPr lang="en-GB" sz="2400"/>
          </a:p>
        </p:txBody>
      </p:sp>
      <p:sp>
        <p:nvSpPr>
          <p:cNvPr id="10" name="Shape 8"/>
          <p:cNvSpPr/>
          <p:nvPr/>
        </p:nvSpPr>
        <p:spPr>
          <a:xfrm>
            <a:off x="2706624" y="1999488"/>
            <a:ext cx="682752" cy="536448"/>
          </a:xfrm>
          <a:prstGeom prst="ellipse">
            <a:avLst/>
          </a:prstGeom>
          <a:solidFill>
            <a:srgbClr val="252530"/>
          </a:solidFill>
          <a:ln w="19050">
            <a:solidFill>
              <a:srgbClr val="3DDC84"/>
            </a:solidFill>
            <a:prstDash val="solid"/>
          </a:ln>
        </p:spPr>
        <p:txBody>
          <a:bodyPr/>
          <a:lstStyle/>
          <a:p>
            <a:endParaRPr lang="en-GB" sz="2400"/>
          </a:p>
        </p:txBody>
      </p:sp>
      <p:sp>
        <p:nvSpPr>
          <p:cNvPr id="11" name="Text 9"/>
          <p:cNvSpPr/>
          <p:nvPr/>
        </p:nvSpPr>
        <p:spPr>
          <a:xfrm>
            <a:off x="2706624" y="2023872"/>
            <a:ext cx="682752" cy="487680"/>
          </a:xfrm>
          <a:prstGeom prst="rect">
            <a:avLst/>
          </a:prstGeom>
          <a:noFill/>
          <a:ln/>
        </p:spPr>
        <p:txBody>
          <a:bodyPr wrap="square" lIns="0" tIns="0" rIns="0" bIns="0" rtlCol="0" anchor="ctr"/>
          <a:lstStyle/>
          <a:p>
            <a:pPr algn="ctr"/>
            <a:r>
              <a:rPr lang="en-US" sz="1333" b="1" dirty="0">
                <a:solidFill>
                  <a:srgbClr val="3DDC84"/>
                </a:solidFill>
              </a:rPr>
              <a:t>h1</a:t>
            </a:r>
            <a:endParaRPr lang="en-US" sz="1333" dirty="0"/>
          </a:p>
        </p:txBody>
      </p:sp>
      <p:sp>
        <p:nvSpPr>
          <p:cNvPr id="12" name="Shape 10"/>
          <p:cNvSpPr/>
          <p:nvPr/>
        </p:nvSpPr>
        <p:spPr>
          <a:xfrm flipV="1">
            <a:off x="3511296" y="3293661"/>
            <a:ext cx="841248" cy="437092"/>
          </a:xfrm>
          <a:prstGeom prst="line">
            <a:avLst/>
          </a:prstGeom>
          <a:noFill/>
          <a:ln w="12700">
            <a:solidFill>
              <a:srgbClr val="AAAAAA">
                <a:alpha val="70000"/>
              </a:srgbClr>
            </a:solidFill>
            <a:prstDash val="solid"/>
          </a:ln>
        </p:spPr>
        <p:txBody>
          <a:bodyPr/>
          <a:lstStyle/>
          <a:p>
            <a:endParaRPr lang="en-GB" sz="2400"/>
          </a:p>
        </p:txBody>
      </p:sp>
      <p:sp>
        <p:nvSpPr>
          <p:cNvPr id="13" name="Shape 11"/>
          <p:cNvSpPr/>
          <p:nvPr/>
        </p:nvSpPr>
        <p:spPr>
          <a:xfrm>
            <a:off x="4230624" y="2828544"/>
            <a:ext cx="682752" cy="536448"/>
          </a:xfrm>
          <a:prstGeom prst="ellipse">
            <a:avLst/>
          </a:prstGeom>
          <a:solidFill>
            <a:srgbClr val="252530"/>
          </a:solidFill>
          <a:ln w="19050">
            <a:solidFill>
              <a:srgbClr val="3DDC84"/>
            </a:solidFill>
            <a:prstDash val="solid"/>
          </a:ln>
        </p:spPr>
        <p:txBody>
          <a:bodyPr/>
          <a:lstStyle/>
          <a:p>
            <a:endParaRPr lang="en-GB" sz="2400"/>
          </a:p>
        </p:txBody>
      </p:sp>
      <p:sp>
        <p:nvSpPr>
          <p:cNvPr id="14" name="Text 12"/>
          <p:cNvSpPr/>
          <p:nvPr/>
        </p:nvSpPr>
        <p:spPr>
          <a:xfrm>
            <a:off x="4230624" y="2852928"/>
            <a:ext cx="682752" cy="487680"/>
          </a:xfrm>
          <a:prstGeom prst="rect">
            <a:avLst/>
          </a:prstGeom>
          <a:noFill/>
          <a:ln/>
        </p:spPr>
        <p:txBody>
          <a:bodyPr wrap="square" lIns="0" tIns="0" rIns="0" bIns="0" rtlCol="0" anchor="ctr"/>
          <a:lstStyle/>
          <a:p>
            <a:pPr algn="ctr"/>
            <a:r>
              <a:rPr lang="en-US" sz="1333" b="1" dirty="0">
                <a:solidFill>
                  <a:srgbClr val="3DDC84"/>
                </a:solidFill>
              </a:rPr>
              <a:t>h2</a:t>
            </a:r>
            <a:endParaRPr lang="en-US" sz="1333" dirty="0"/>
          </a:p>
        </p:txBody>
      </p:sp>
      <p:sp>
        <p:nvSpPr>
          <p:cNvPr id="15" name="Shape 13"/>
          <p:cNvSpPr/>
          <p:nvPr/>
        </p:nvSpPr>
        <p:spPr>
          <a:xfrm>
            <a:off x="3511296" y="4364736"/>
            <a:ext cx="1060704" cy="536448"/>
          </a:xfrm>
          <a:prstGeom prst="line">
            <a:avLst/>
          </a:prstGeom>
          <a:noFill/>
          <a:ln w="12700">
            <a:solidFill>
              <a:srgbClr val="AAAAAA">
                <a:alpha val="70000"/>
              </a:srgbClr>
            </a:solidFill>
            <a:prstDash val="solid"/>
          </a:ln>
        </p:spPr>
        <p:txBody>
          <a:bodyPr/>
          <a:lstStyle/>
          <a:p>
            <a:endParaRPr lang="en-GB" sz="2400"/>
          </a:p>
        </p:txBody>
      </p:sp>
      <p:sp>
        <p:nvSpPr>
          <p:cNvPr id="16" name="Shape 14"/>
          <p:cNvSpPr/>
          <p:nvPr/>
        </p:nvSpPr>
        <p:spPr>
          <a:xfrm>
            <a:off x="4230624" y="4584192"/>
            <a:ext cx="682752" cy="536448"/>
          </a:xfrm>
          <a:prstGeom prst="ellipse">
            <a:avLst/>
          </a:prstGeom>
          <a:solidFill>
            <a:srgbClr val="252530"/>
          </a:solidFill>
          <a:ln w="19050">
            <a:solidFill>
              <a:srgbClr val="3DDC84"/>
            </a:solidFill>
            <a:prstDash val="solid"/>
          </a:ln>
        </p:spPr>
        <p:txBody>
          <a:bodyPr/>
          <a:lstStyle/>
          <a:p>
            <a:endParaRPr lang="en-GB" sz="2400"/>
          </a:p>
        </p:txBody>
      </p:sp>
      <p:sp>
        <p:nvSpPr>
          <p:cNvPr id="17" name="Text 15"/>
          <p:cNvSpPr/>
          <p:nvPr/>
        </p:nvSpPr>
        <p:spPr>
          <a:xfrm>
            <a:off x="4230624" y="4608576"/>
            <a:ext cx="682752" cy="487680"/>
          </a:xfrm>
          <a:prstGeom prst="rect">
            <a:avLst/>
          </a:prstGeom>
          <a:noFill/>
          <a:ln/>
        </p:spPr>
        <p:txBody>
          <a:bodyPr wrap="square" lIns="0" tIns="0" rIns="0" bIns="0" rtlCol="0" anchor="ctr"/>
          <a:lstStyle/>
          <a:p>
            <a:pPr algn="ctr"/>
            <a:r>
              <a:rPr lang="en-US" sz="1333" b="1" dirty="0">
                <a:solidFill>
                  <a:srgbClr val="3DDC84"/>
                </a:solidFill>
              </a:rPr>
              <a:t>h3</a:t>
            </a:r>
            <a:endParaRPr lang="en-US" sz="1333" dirty="0"/>
          </a:p>
        </p:txBody>
      </p:sp>
      <p:sp>
        <p:nvSpPr>
          <p:cNvPr id="18" name="Shape 16"/>
          <p:cNvSpPr/>
          <p:nvPr/>
        </p:nvSpPr>
        <p:spPr>
          <a:xfrm flipV="1">
            <a:off x="1865376" y="4340351"/>
            <a:ext cx="731520" cy="412708"/>
          </a:xfrm>
          <a:prstGeom prst="line">
            <a:avLst/>
          </a:prstGeom>
          <a:noFill/>
          <a:ln w="12700">
            <a:solidFill>
              <a:srgbClr val="AAAAAA">
                <a:alpha val="70000"/>
              </a:srgbClr>
            </a:solidFill>
            <a:prstDash val="solid"/>
          </a:ln>
        </p:spPr>
        <p:txBody>
          <a:bodyPr/>
          <a:lstStyle/>
          <a:p>
            <a:endParaRPr lang="en-GB" sz="2400"/>
          </a:p>
        </p:txBody>
      </p:sp>
      <p:sp>
        <p:nvSpPr>
          <p:cNvPr id="19" name="Shape 17"/>
          <p:cNvSpPr/>
          <p:nvPr/>
        </p:nvSpPr>
        <p:spPr>
          <a:xfrm>
            <a:off x="1182624" y="4584192"/>
            <a:ext cx="682752" cy="536448"/>
          </a:xfrm>
          <a:prstGeom prst="ellipse">
            <a:avLst/>
          </a:prstGeom>
          <a:solidFill>
            <a:srgbClr val="252530"/>
          </a:solidFill>
          <a:ln w="19050">
            <a:solidFill>
              <a:srgbClr val="3DDC84"/>
            </a:solidFill>
            <a:prstDash val="solid"/>
          </a:ln>
        </p:spPr>
        <p:txBody>
          <a:bodyPr/>
          <a:lstStyle/>
          <a:p>
            <a:endParaRPr lang="en-GB" sz="2400"/>
          </a:p>
        </p:txBody>
      </p:sp>
      <p:sp>
        <p:nvSpPr>
          <p:cNvPr id="20" name="Text 18"/>
          <p:cNvSpPr/>
          <p:nvPr/>
        </p:nvSpPr>
        <p:spPr>
          <a:xfrm>
            <a:off x="1182624" y="4608576"/>
            <a:ext cx="682752" cy="487680"/>
          </a:xfrm>
          <a:prstGeom prst="rect">
            <a:avLst/>
          </a:prstGeom>
          <a:noFill/>
          <a:ln/>
        </p:spPr>
        <p:txBody>
          <a:bodyPr wrap="square" lIns="0" tIns="0" rIns="0" bIns="0" rtlCol="0" anchor="ctr"/>
          <a:lstStyle/>
          <a:p>
            <a:pPr algn="ctr"/>
            <a:r>
              <a:rPr lang="en-US" sz="1333" b="1" dirty="0">
                <a:solidFill>
                  <a:srgbClr val="3DDC84"/>
                </a:solidFill>
              </a:rPr>
              <a:t>h4</a:t>
            </a:r>
            <a:endParaRPr lang="en-US" sz="1333" dirty="0"/>
          </a:p>
        </p:txBody>
      </p:sp>
      <p:sp>
        <p:nvSpPr>
          <p:cNvPr id="21" name="Shape 19"/>
          <p:cNvSpPr/>
          <p:nvPr/>
        </p:nvSpPr>
        <p:spPr>
          <a:xfrm>
            <a:off x="1524000" y="3145536"/>
            <a:ext cx="1060704" cy="548640"/>
          </a:xfrm>
          <a:prstGeom prst="line">
            <a:avLst/>
          </a:prstGeom>
          <a:noFill/>
          <a:ln w="12700">
            <a:solidFill>
              <a:srgbClr val="AAAAAA">
                <a:alpha val="70000"/>
              </a:srgbClr>
            </a:solidFill>
            <a:prstDash val="solid"/>
          </a:ln>
        </p:spPr>
        <p:txBody>
          <a:bodyPr/>
          <a:lstStyle/>
          <a:p>
            <a:endParaRPr lang="en-GB" sz="2400"/>
          </a:p>
        </p:txBody>
      </p:sp>
      <p:sp>
        <p:nvSpPr>
          <p:cNvPr id="22" name="Shape 20"/>
          <p:cNvSpPr/>
          <p:nvPr/>
        </p:nvSpPr>
        <p:spPr>
          <a:xfrm>
            <a:off x="1182624" y="2828544"/>
            <a:ext cx="682752" cy="536448"/>
          </a:xfrm>
          <a:prstGeom prst="ellipse">
            <a:avLst/>
          </a:prstGeom>
          <a:solidFill>
            <a:srgbClr val="252530"/>
          </a:solidFill>
          <a:ln w="19050">
            <a:solidFill>
              <a:srgbClr val="3DDC84"/>
            </a:solidFill>
            <a:prstDash val="solid"/>
          </a:ln>
        </p:spPr>
        <p:txBody>
          <a:bodyPr/>
          <a:lstStyle/>
          <a:p>
            <a:endParaRPr lang="en-GB" sz="2400"/>
          </a:p>
        </p:txBody>
      </p:sp>
      <p:sp>
        <p:nvSpPr>
          <p:cNvPr id="23" name="Text 21"/>
          <p:cNvSpPr/>
          <p:nvPr/>
        </p:nvSpPr>
        <p:spPr>
          <a:xfrm>
            <a:off x="1182624" y="2852928"/>
            <a:ext cx="682752" cy="487680"/>
          </a:xfrm>
          <a:prstGeom prst="rect">
            <a:avLst/>
          </a:prstGeom>
          <a:noFill/>
          <a:ln/>
        </p:spPr>
        <p:txBody>
          <a:bodyPr wrap="square" lIns="0" tIns="0" rIns="0" bIns="0" rtlCol="0" anchor="ctr"/>
          <a:lstStyle/>
          <a:p>
            <a:pPr algn="ctr"/>
            <a:r>
              <a:rPr lang="en-US" sz="1333" b="1" dirty="0">
                <a:solidFill>
                  <a:srgbClr val="3DDC84"/>
                </a:solidFill>
              </a:rPr>
              <a:t>h5</a:t>
            </a:r>
            <a:endParaRPr lang="en-US" sz="1333" dirty="0"/>
          </a:p>
        </p:txBody>
      </p:sp>
      <p:sp>
        <p:nvSpPr>
          <p:cNvPr id="24" name="Text 22"/>
          <p:cNvSpPr/>
          <p:nvPr/>
        </p:nvSpPr>
        <p:spPr>
          <a:xfrm>
            <a:off x="609600" y="5974080"/>
            <a:ext cx="4876800" cy="731520"/>
          </a:xfrm>
          <a:prstGeom prst="rect">
            <a:avLst/>
          </a:prstGeom>
          <a:noFill/>
          <a:ln/>
        </p:spPr>
        <p:txBody>
          <a:bodyPr wrap="square" rtlCol="0" anchor="ctr"/>
          <a:lstStyle/>
          <a:p>
            <a:pPr algn="ctr"/>
            <a:r>
              <a:rPr lang="en-US" sz="1400" dirty="0">
                <a:solidFill>
                  <a:srgbClr val="AAAAAA"/>
                </a:solidFill>
                <a:latin typeface="Calibri" pitchFamily="34" charset="0"/>
                <a:ea typeface="Calibri" pitchFamily="34" charset="-122"/>
                <a:cs typeface="Calibri" pitchFamily="34" charset="-120"/>
              </a:rPr>
              <a:t>Mininet Star Topology</a:t>
            </a:r>
            <a:endParaRPr lang="en-US" sz="1400" dirty="0"/>
          </a:p>
          <a:p>
            <a:pPr algn="ctr"/>
            <a:r>
              <a:rPr lang="en-US" sz="1400" dirty="0">
                <a:solidFill>
                  <a:srgbClr val="AAAAAA"/>
                </a:solidFill>
                <a:latin typeface="Calibri" pitchFamily="34" charset="0"/>
                <a:ea typeface="Calibri" pitchFamily="34" charset="-122"/>
                <a:cs typeface="Calibri" pitchFamily="34" charset="-120"/>
              </a:rPr>
              <a:t>5 hosts · 1 OVS switch</a:t>
            </a:r>
            <a:endParaRPr lang="en-US" sz="1400" dirty="0"/>
          </a:p>
        </p:txBody>
      </p:sp>
      <p:sp>
        <p:nvSpPr>
          <p:cNvPr id="25" name="Shape 23"/>
          <p:cNvSpPr/>
          <p:nvPr/>
        </p:nvSpPr>
        <p:spPr>
          <a:xfrm>
            <a:off x="6217920" y="1097280"/>
            <a:ext cx="5730240" cy="5547360"/>
          </a:xfrm>
          <a:prstGeom prst="rect">
            <a:avLst/>
          </a:prstGeom>
          <a:solidFill>
            <a:srgbClr val="1E1E24">
              <a:alpha val="80000"/>
            </a:srgbClr>
          </a:solidFill>
          <a:ln w="12700">
            <a:solidFill>
              <a:srgbClr val="2A2A36"/>
            </a:solidFill>
            <a:prstDash val="solid"/>
          </a:ln>
        </p:spPr>
        <p:txBody>
          <a:bodyPr/>
          <a:lstStyle/>
          <a:p>
            <a:endParaRPr lang="en-GB" sz="2400"/>
          </a:p>
        </p:txBody>
      </p:sp>
      <p:sp>
        <p:nvSpPr>
          <p:cNvPr id="26" name="Shape 24"/>
          <p:cNvSpPr/>
          <p:nvPr/>
        </p:nvSpPr>
        <p:spPr>
          <a:xfrm>
            <a:off x="6400800" y="1267968"/>
            <a:ext cx="414528" cy="414528"/>
          </a:xfrm>
          <a:prstGeom prst="ellipse">
            <a:avLst/>
          </a:prstGeom>
          <a:solidFill>
            <a:srgbClr val="FFFFFF"/>
          </a:solidFill>
          <a:ln w="12700">
            <a:solidFill>
              <a:srgbClr val="FFFFFF"/>
            </a:solidFill>
            <a:prstDash val="solid"/>
          </a:ln>
        </p:spPr>
        <p:txBody>
          <a:bodyPr/>
          <a:lstStyle/>
          <a:p>
            <a:endParaRPr lang="en-GB" sz="2400"/>
          </a:p>
        </p:txBody>
      </p:sp>
      <p:sp>
        <p:nvSpPr>
          <p:cNvPr id="27" name="Text 25"/>
          <p:cNvSpPr/>
          <p:nvPr/>
        </p:nvSpPr>
        <p:spPr>
          <a:xfrm>
            <a:off x="6400800" y="1267968"/>
            <a:ext cx="414528" cy="414528"/>
          </a:xfrm>
          <a:prstGeom prst="rect">
            <a:avLst/>
          </a:prstGeom>
          <a:noFill/>
          <a:ln/>
        </p:spPr>
        <p:txBody>
          <a:bodyPr wrap="square" lIns="0" tIns="0" rIns="0" bIns="0" rtlCol="0" anchor="ctr"/>
          <a:lstStyle/>
          <a:p>
            <a:pPr algn="ctr"/>
            <a:r>
              <a:rPr lang="en-US" sz="1333" b="1" dirty="0">
                <a:solidFill>
                  <a:srgbClr val="1A1A1E"/>
                </a:solidFill>
              </a:rPr>
              <a:t>1</a:t>
            </a:r>
            <a:endParaRPr lang="en-US" sz="1333" dirty="0"/>
          </a:p>
        </p:txBody>
      </p:sp>
      <p:sp>
        <p:nvSpPr>
          <p:cNvPr id="28" name="Text 26"/>
          <p:cNvSpPr/>
          <p:nvPr/>
        </p:nvSpPr>
        <p:spPr>
          <a:xfrm>
            <a:off x="6973824" y="1219200"/>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Mininet simulates the network: 5 hosts connected to a single Open vSwitch (s1).</a:t>
            </a:r>
            <a:endParaRPr lang="en-US" sz="1467" dirty="0"/>
          </a:p>
        </p:txBody>
      </p:sp>
      <p:sp>
        <p:nvSpPr>
          <p:cNvPr id="29" name="Shape 27"/>
          <p:cNvSpPr/>
          <p:nvPr/>
        </p:nvSpPr>
        <p:spPr>
          <a:xfrm>
            <a:off x="6400800" y="2145792"/>
            <a:ext cx="414528" cy="414528"/>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30" name="Text 28"/>
          <p:cNvSpPr/>
          <p:nvPr/>
        </p:nvSpPr>
        <p:spPr>
          <a:xfrm>
            <a:off x="6400800" y="2145792"/>
            <a:ext cx="414528" cy="414528"/>
          </a:xfrm>
          <a:prstGeom prst="rect">
            <a:avLst/>
          </a:prstGeom>
          <a:noFill/>
          <a:ln/>
        </p:spPr>
        <p:txBody>
          <a:bodyPr wrap="square" lIns="0" tIns="0" rIns="0" bIns="0" rtlCol="0" anchor="ctr"/>
          <a:lstStyle/>
          <a:p>
            <a:pPr algn="ctr"/>
            <a:r>
              <a:rPr lang="en-US" sz="1333" b="1" dirty="0">
                <a:solidFill>
                  <a:srgbClr val="1A1A1E"/>
                </a:solidFill>
              </a:rPr>
              <a:t>2</a:t>
            </a:r>
            <a:endParaRPr lang="en-US" sz="1333" dirty="0"/>
          </a:p>
        </p:txBody>
      </p:sp>
      <p:sp>
        <p:nvSpPr>
          <p:cNvPr id="31" name="Text 29"/>
          <p:cNvSpPr/>
          <p:nvPr/>
        </p:nvSpPr>
        <p:spPr>
          <a:xfrm>
            <a:off x="6973824" y="2097024"/>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Attacker (h2) launches a SYN flood:  hping3 -S --flood -V -p 22 10.0.0.1</a:t>
            </a:r>
            <a:endParaRPr lang="en-US" sz="1467" dirty="0"/>
          </a:p>
        </p:txBody>
      </p:sp>
      <p:sp>
        <p:nvSpPr>
          <p:cNvPr id="32" name="Shape 30"/>
          <p:cNvSpPr/>
          <p:nvPr/>
        </p:nvSpPr>
        <p:spPr>
          <a:xfrm>
            <a:off x="6400800" y="3023616"/>
            <a:ext cx="414528" cy="414528"/>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33" name="Text 31"/>
          <p:cNvSpPr/>
          <p:nvPr/>
        </p:nvSpPr>
        <p:spPr>
          <a:xfrm>
            <a:off x="6400800" y="3023616"/>
            <a:ext cx="414528" cy="414528"/>
          </a:xfrm>
          <a:prstGeom prst="rect">
            <a:avLst/>
          </a:prstGeom>
          <a:noFill/>
          <a:ln/>
        </p:spPr>
        <p:txBody>
          <a:bodyPr wrap="square" lIns="0" tIns="0" rIns="0" bIns="0" rtlCol="0" anchor="ctr"/>
          <a:lstStyle/>
          <a:p>
            <a:pPr algn="ctr"/>
            <a:r>
              <a:rPr lang="en-US" sz="1333" b="1" dirty="0">
                <a:solidFill>
                  <a:srgbClr val="1A1A1E"/>
                </a:solidFill>
              </a:rPr>
              <a:t>3</a:t>
            </a:r>
            <a:endParaRPr lang="en-US" sz="1333" dirty="0"/>
          </a:p>
        </p:txBody>
      </p:sp>
      <p:sp>
        <p:nvSpPr>
          <p:cNvPr id="34" name="Text 32"/>
          <p:cNvSpPr/>
          <p:nvPr/>
        </p:nvSpPr>
        <p:spPr>
          <a:xfrm>
            <a:off x="6973824" y="2974848"/>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OSKen controller detects SYN bit (0x02) via PacketIn → increments syn_count.txt.</a:t>
            </a:r>
            <a:endParaRPr lang="en-US" sz="1467" dirty="0"/>
          </a:p>
        </p:txBody>
      </p:sp>
      <p:sp>
        <p:nvSpPr>
          <p:cNvPr id="35" name="Shape 33"/>
          <p:cNvSpPr/>
          <p:nvPr/>
        </p:nvSpPr>
        <p:spPr>
          <a:xfrm>
            <a:off x="6400800" y="3901440"/>
            <a:ext cx="414528" cy="414528"/>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36" name="Text 34"/>
          <p:cNvSpPr/>
          <p:nvPr/>
        </p:nvSpPr>
        <p:spPr>
          <a:xfrm>
            <a:off x="6400800" y="3901440"/>
            <a:ext cx="414528" cy="414528"/>
          </a:xfrm>
          <a:prstGeom prst="rect">
            <a:avLst/>
          </a:prstGeom>
          <a:noFill/>
          <a:ln/>
        </p:spPr>
        <p:txBody>
          <a:bodyPr wrap="square" lIns="0" tIns="0" rIns="0" bIns="0" rtlCol="0" anchor="ctr"/>
          <a:lstStyle/>
          <a:p>
            <a:pPr algn="ctr"/>
            <a:r>
              <a:rPr lang="en-US" sz="1333" b="1" dirty="0">
                <a:solidFill>
                  <a:srgbClr val="1A1A1E"/>
                </a:solidFill>
              </a:rPr>
              <a:t>4</a:t>
            </a:r>
            <a:endParaRPr lang="en-US" sz="1333" dirty="0"/>
          </a:p>
        </p:txBody>
      </p:sp>
      <p:sp>
        <p:nvSpPr>
          <p:cNvPr id="37" name="Text 35"/>
          <p:cNvSpPr/>
          <p:nvPr/>
        </p:nvSpPr>
        <p:spPr>
          <a:xfrm>
            <a:off x="6973824" y="3852672"/>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Threshold breached → scaling script deploys a new Cowrie container on port 2222+N.</a:t>
            </a:r>
            <a:endParaRPr lang="en-US" sz="1467" dirty="0"/>
          </a:p>
        </p:txBody>
      </p:sp>
      <p:sp>
        <p:nvSpPr>
          <p:cNvPr id="38" name="Shape 36"/>
          <p:cNvSpPr/>
          <p:nvPr/>
        </p:nvSpPr>
        <p:spPr>
          <a:xfrm>
            <a:off x="6400800" y="4779264"/>
            <a:ext cx="414528" cy="414528"/>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39" name="Text 37"/>
          <p:cNvSpPr/>
          <p:nvPr/>
        </p:nvSpPr>
        <p:spPr>
          <a:xfrm>
            <a:off x="6400800" y="4779264"/>
            <a:ext cx="414528" cy="414528"/>
          </a:xfrm>
          <a:prstGeom prst="rect">
            <a:avLst/>
          </a:prstGeom>
          <a:noFill/>
          <a:ln/>
        </p:spPr>
        <p:txBody>
          <a:bodyPr wrap="square" lIns="0" tIns="0" rIns="0" bIns="0" rtlCol="0" anchor="ctr"/>
          <a:lstStyle/>
          <a:p>
            <a:pPr algn="ctr"/>
            <a:r>
              <a:rPr lang="en-US" sz="1333" b="1" dirty="0">
                <a:solidFill>
                  <a:srgbClr val="1A1A1E"/>
                </a:solidFill>
              </a:rPr>
              <a:t>5</a:t>
            </a:r>
            <a:endParaRPr lang="en-US" sz="1333" dirty="0"/>
          </a:p>
        </p:txBody>
      </p:sp>
      <p:sp>
        <p:nvSpPr>
          <p:cNvPr id="40" name="Text 38"/>
          <p:cNvSpPr/>
          <p:nvPr/>
        </p:nvSpPr>
        <p:spPr>
          <a:xfrm>
            <a:off x="6973824" y="4730496"/>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Flow rule installed: attacker's source IP ‘should be’ silently redirected to 172.17.0.x (the honeypot), with idle_timeout=20 s.</a:t>
            </a:r>
            <a:endParaRPr lang="en-US" sz="1467" dirty="0"/>
          </a:p>
        </p:txBody>
      </p:sp>
      <p:sp>
        <p:nvSpPr>
          <p:cNvPr id="41" name="Shape 39"/>
          <p:cNvSpPr/>
          <p:nvPr/>
        </p:nvSpPr>
        <p:spPr>
          <a:xfrm>
            <a:off x="6400800" y="5657088"/>
            <a:ext cx="414528" cy="414528"/>
          </a:xfrm>
          <a:prstGeom prst="ellipse">
            <a:avLst/>
          </a:prstGeom>
          <a:solidFill>
            <a:schemeClr val="tx1">
              <a:lumMod val="95000"/>
            </a:schemeClr>
          </a:solidFill>
          <a:ln w="12700">
            <a:solidFill>
              <a:schemeClr val="tx1"/>
            </a:solidFill>
            <a:prstDash val="solid"/>
          </a:ln>
        </p:spPr>
        <p:txBody>
          <a:bodyPr/>
          <a:lstStyle/>
          <a:p>
            <a:endParaRPr lang="en-GB" sz="2400"/>
          </a:p>
        </p:txBody>
      </p:sp>
      <p:sp>
        <p:nvSpPr>
          <p:cNvPr id="42" name="Text 40"/>
          <p:cNvSpPr/>
          <p:nvPr/>
        </p:nvSpPr>
        <p:spPr>
          <a:xfrm>
            <a:off x="6400800" y="5657088"/>
            <a:ext cx="414528" cy="414528"/>
          </a:xfrm>
          <a:prstGeom prst="rect">
            <a:avLst/>
          </a:prstGeom>
          <a:noFill/>
          <a:ln/>
        </p:spPr>
        <p:txBody>
          <a:bodyPr wrap="square" lIns="0" tIns="0" rIns="0" bIns="0" rtlCol="0" anchor="ctr"/>
          <a:lstStyle/>
          <a:p>
            <a:pPr algn="ctr"/>
            <a:r>
              <a:rPr lang="en-US" sz="1333" b="1" dirty="0">
                <a:solidFill>
                  <a:srgbClr val="1A1A1E"/>
                </a:solidFill>
              </a:rPr>
              <a:t>6</a:t>
            </a:r>
            <a:endParaRPr lang="en-US" sz="1333" dirty="0"/>
          </a:p>
        </p:txBody>
      </p:sp>
      <p:sp>
        <p:nvSpPr>
          <p:cNvPr id="43" name="Text 41"/>
          <p:cNvSpPr/>
          <p:nvPr/>
        </p:nvSpPr>
        <p:spPr>
          <a:xfrm>
            <a:off x="6973824" y="5608320"/>
            <a:ext cx="4754880" cy="792480"/>
          </a:xfrm>
          <a:prstGeom prst="rect">
            <a:avLst/>
          </a:prstGeom>
          <a:noFill/>
          <a:ln/>
        </p:spPr>
        <p:txBody>
          <a:bodyPr wrap="square" rtlCol="0" anchor="ctr"/>
          <a:lstStyle/>
          <a:p>
            <a:r>
              <a:rPr lang="en-US" sz="1467" dirty="0">
                <a:solidFill>
                  <a:srgbClr val="FFFFFF"/>
                </a:solidFill>
                <a:latin typeface="Calibri" pitchFamily="34" charset="0"/>
                <a:ea typeface="Calibri" pitchFamily="34" charset="-122"/>
                <a:cs typeface="Calibri" pitchFamily="34" charset="-120"/>
              </a:rPr>
              <a:t>Attacker interacts with the honeypot - unaware it is a decoy. All actions of the attacker are logged.</a:t>
            </a:r>
            <a:endParaRPr lang="en-US" sz="146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IMPLEMENTATION</a:t>
            </a:r>
            <a:endParaRPr lang="en-US" sz="3733" dirty="0"/>
          </a:p>
        </p:txBody>
      </p:sp>
      <p:sp>
        <p:nvSpPr>
          <p:cNvPr id="7" name="Shape 5"/>
          <p:cNvSpPr/>
          <p:nvPr/>
        </p:nvSpPr>
        <p:spPr>
          <a:xfrm>
            <a:off x="268224" y="1219200"/>
            <a:ext cx="3779520" cy="5340096"/>
          </a:xfrm>
          <a:prstGeom prst="rect">
            <a:avLst/>
          </a:prstGeom>
          <a:solidFill>
            <a:srgbClr val="1E1E24"/>
          </a:solidFill>
          <a:ln w="12700">
            <a:solidFill>
              <a:schemeClr val="tx1"/>
            </a:solidFill>
            <a:prstDash val="solid"/>
          </a:ln>
        </p:spPr>
        <p:txBody>
          <a:bodyPr/>
          <a:lstStyle/>
          <a:p>
            <a:endParaRPr lang="en-GB" sz="2400"/>
          </a:p>
        </p:txBody>
      </p:sp>
      <p:sp>
        <p:nvSpPr>
          <p:cNvPr id="8" name="Shape 6"/>
          <p:cNvSpPr/>
          <p:nvPr/>
        </p:nvSpPr>
        <p:spPr>
          <a:xfrm>
            <a:off x="268224" y="1219200"/>
            <a:ext cx="3779520" cy="512064"/>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9" name="Text 7"/>
          <p:cNvSpPr/>
          <p:nvPr/>
        </p:nvSpPr>
        <p:spPr>
          <a:xfrm>
            <a:off x="268224" y="1243584"/>
            <a:ext cx="3779520" cy="463296"/>
          </a:xfrm>
          <a:prstGeom prst="rect">
            <a:avLst/>
          </a:prstGeom>
          <a:noFill/>
          <a:ln/>
        </p:spPr>
        <p:txBody>
          <a:bodyPr wrap="square" lIns="0" tIns="0" rIns="0" bIns="0" rtlCol="0" anchor="ctr"/>
          <a:lstStyle/>
          <a:p>
            <a:pPr algn="ctr"/>
            <a:r>
              <a:rPr lang="en-US" sz="1467" b="1" dirty="0">
                <a:solidFill>
                  <a:srgbClr val="1A1A1E"/>
                </a:solidFill>
                <a:latin typeface="Consolas" pitchFamily="34" charset="0"/>
                <a:ea typeface="Consolas" pitchFamily="34" charset="-122"/>
                <a:cs typeface="Consolas" pitchFamily="34" charset="-120"/>
              </a:rPr>
              <a:t>controller.py</a:t>
            </a:r>
            <a:endParaRPr lang="en-US" sz="1467" dirty="0"/>
          </a:p>
        </p:txBody>
      </p:sp>
      <p:sp>
        <p:nvSpPr>
          <p:cNvPr id="10" name="Text 8"/>
          <p:cNvSpPr/>
          <p:nvPr/>
        </p:nvSpPr>
        <p:spPr>
          <a:xfrm>
            <a:off x="414528" y="1828800"/>
            <a:ext cx="3511296" cy="4572000"/>
          </a:xfrm>
          <a:prstGeom prst="rect">
            <a:avLst/>
          </a:prstGeom>
          <a:noFill/>
          <a:ln/>
        </p:spPr>
        <p:txBody>
          <a:bodyPr wrap="square" rtlCol="0" anchor="t"/>
          <a:lstStyle/>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Extends OSKenApp — Ryu fork compatible with Python 3.12</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Registers EventOFPPacketIn on MAIN_DISPATCHER</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Checks tcp_pkt.bits == 0x02 (SYN flag only)</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Calls increment_syn_counter() → writes to syn_count.txt</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install_flow() picks a random honeypot IP (172.17.0.x)</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OFPFlowMod with priority=100 and idle_timeout=20 s</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Normal traffic is flooded</a:t>
            </a:r>
            <a:endParaRPr lang="en-US" sz="1267" dirty="0"/>
          </a:p>
        </p:txBody>
      </p:sp>
      <p:sp>
        <p:nvSpPr>
          <p:cNvPr id="11" name="Shape 9"/>
          <p:cNvSpPr/>
          <p:nvPr/>
        </p:nvSpPr>
        <p:spPr>
          <a:xfrm>
            <a:off x="4230624" y="1219200"/>
            <a:ext cx="3779520" cy="5340096"/>
          </a:xfrm>
          <a:prstGeom prst="rect">
            <a:avLst/>
          </a:prstGeom>
          <a:solidFill>
            <a:srgbClr val="1E1E24"/>
          </a:solidFill>
          <a:ln w="12700">
            <a:solidFill>
              <a:schemeClr val="tx1"/>
            </a:solidFill>
            <a:prstDash val="solid"/>
          </a:ln>
        </p:spPr>
        <p:txBody>
          <a:bodyPr/>
          <a:lstStyle/>
          <a:p>
            <a:endParaRPr lang="en-GB" sz="2400"/>
          </a:p>
        </p:txBody>
      </p:sp>
      <p:sp>
        <p:nvSpPr>
          <p:cNvPr id="12" name="Shape 10"/>
          <p:cNvSpPr/>
          <p:nvPr/>
        </p:nvSpPr>
        <p:spPr>
          <a:xfrm>
            <a:off x="4230624" y="1219200"/>
            <a:ext cx="3779520" cy="512064"/>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3" name="Text 11"/>
          <p:cNvSpPr/>
          <p:nvPr/>
        </p:nvSpPr>
        <p:spPr>
          <a:xfrm>
            <a:off x="4230624" y="1243584"/>
            <a:ext cx="3779520" cy="463296"/>
          </a:xfrm>
          <a:prstGeom prst="rect">
            <a:avLst/>
          </a:prstGeom>
          <a:noFill/>
          <a:ln/>
        </p:spPr>
        <p:txBody>
          <a:bodyPr wrap="square" lIns="0" tIns="0" rIns="0" bIns="0" rtlCol="0" anchor="ctr"/>
          <a:lstStyle/>
          <a:p>
            <a:pPr algn="ctr"/>
            <a:r>
              <a:rPr lang="en-US" sz="1467" b="1" dirty="0">
                <a:solidFill>
                  <a:srgbClr val="1A1A1E"/>
                </a:solidFill>
                <a:latin typeface="Consolas" pitchFamily="34" charset="0"/>
                <a:ea typeface="Consolas" pitchFamily="34" charset="-122"/>
                <a:cs typeface="Consolas" pitchFamily="34" charset="-120"/>
              </a:rPr>
              <a:t>honeypot-scaling.py</a:t>
            </a:r>
            <a:endParaRPr lang="en-US" sz="1467" dirty="0"/>
          </a:p>
        </p:txBody>
      </p:sp>
      <p:sp>
        <p:nvSpPr>
          <p:cNvPr id="14" name="Text 12"/>
          <p:cNvSpPr/>
          <p:nvPr/>
        </p:nvSpPr>
        <p:spPr>
          <a:xfrm>
            <a:off x="4376928" y="1828800"/>
            <a:ext cx="3511296" cy="4572000"/>
          </a:xfrm>
          <a:prstGeom prst="rect">
            <a:avLst/>
          </a:prstGeom>
          <a:noFill/>
          <a:ln/>
        </p:spPr>
        <p:txBody>
          <a:bodyPr wrap="square" rtlCol="0" anchor="t"/>
          <a:lstStyle/>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Reads syn_count.txt every 1 second</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Threshold: 20 SYN packets → deploy a new container, if below threshold progressively remove containers after 3s.</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docker run -d -p {port}:2222 cowrie/cowrie:latest</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Port assigned: 2222 + len(running_containers)</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Tracks containers in a dict {container_id: port}</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Hard cap of 50 containers – can be adjusted.</a:t>
            </a:r>
            <a:endParaRPr lang="en-US" sz="1267" dirty="0"/>
          </a:p>
        </p:txBody>
      </p:sp>
      <p:sp>
        <p:nvSpPr>
          <p:cNvPr id="15" name="Shape 13"/>
          <p:cNvSpPr/>
          <p:nvPr/>
        </p:nvSpPr>
        <p:spPr>
          <a:xfrm>
            <a:off x="8193024" y="1219200"/>
            <a:ext cx="3779520" cy="5340096"/>
          </a:xfrm>
          <a:prstGeom prst="rect">
            <a:avLst/>
          </a:prstGeom>
          <a:solidFill>
            <a:srgbClr val="1E1E24"/>
          </a:solidFill>
          <a:ln w="12700">
            <a:solidFill>
              <a:schemeClr val="tx1"/>
            </a:solidFill>
            <a:prstDash val="solid"/>
          </a:ln>
        </p:spPr>
        <p:txBody>
          <a:bodyPr/>
          <a:lstStyle/>
          <a:p>
            <a:endParaRPr lang="en-GB" sz="2400"/>
          </a:p>
        </p:txBody>
      </p:sp>
      <p:sp>
        <p:nvSpPr>
          <p:cNvPr id="16" name="Shape 14"/>
          <p:cNvSpPr/>
          <p:nvPr/>
        </p:nvSpPr>
        <p:spPr>
          <a:xfrm>
            <a:off x="8193024" y="1219200"/>
            <a:ext cx="3779520" cy="512064"/>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7" name="Text 15"/>
          <p:cNvSpPr/>
          <p:nvPr/>
        </p:nvSpPr>
        <p:spPr>
          <a:xfrm>
            <a:off x="8193024" y="1243584"/>
            <a:ext cx="3779520" cy="463296"/>
          </a:xfrm>
          <a:prstGeom prst="rect">
            <a:avLst/>
          </a:prstGeom>
          <a:noFill/>
          <a:ln/>
        </p:spPr>
        <p:txBody>
          <a:bodyPr wrap="square" lIns="0" tIns="0" rIns="0" bIns="0" rtlCol="0" anchor="ctr"/>
          <a:lstStyle/>
          <a:p>
            <a:pPr algn="ctr"/>
            <a:r>
              <a:rPr lang="en-US" sz="1467" b="1" dirty="0">
                <a:solidFill>
                  <a:srgbClr val="1A1A1E"/>
                </a:solidFill>
                <a:latin typeface="Consolas" pitchFamily="34" charset="0"/>
                <a:ea typeface="Consolas" pitchFamily="34" charset="-122"/>
                <a:cs typeface="Consolas" pitchFamily="34" charset="-120"/>
              </a:rPr>
              <a:t>topology.py</a:t>
            </a:r>
            <a:endParaRPr lang="en-US" sz="1467" dirty="0"/>
          </a:p>
        </p:txBody>
      </p:sp>
      <p:sp>
        <p:nvSpPr>
          <p:cNvPr id="18" name="Text 16"/>
          <p:cNvSpPr/>
          <p:nvPr/>
        </p:nvSpPr>
        <p:spPr>
          <a:xfrm>
            <a:off x="8339328" y="1828800"/>
            <a:ext cx="3511296" cy="4572000"/>
          </a:xfrm>
          <a:prstGeom prst="rect">
            <a:avLst/>
          </a:prstGeom>
          <a:noFill/>
          <a:ln/>
        </p:spPr>
        <p:txBody>
          <a:bodyPr wrap="square" rtlCol="0" anchor="t"/>
          <a:lstStyle/>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Mininet Topo subclass — star layout</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1 central switch (s1) + 5 hosts (h1–h5)</a:t>
            </a:r>
            <a:endParaRPr lang="en-US" sz="1267" dirty="0"/>
          </a:p>
          <a:p>
            <a:pPr marL="457189" indent="-457189">
              <a:spcAft>
                <a:spcPts val="400"/>
              </a:spcAft>
              <a:buSzPct val="100000"/>
              <a:buChar char="•"/>
            </a:pPr>
            <a:r>
              <a:rPr lang="en-US" sz="1267" dirty="0">
                <a:solidFill>
                  <a:srgbClr val="FFFFFF"/>
                </a:solidFill>
                <a:latin typeface="Calibri" pitchFamily="34" charset="0"/>
                <a:ea typeface="Calibri" pitchFamily="34" charset="-122"/>
                <a:cs typeface="Calibri" pitchFamily="34" charset="-120"/>
              </a:rPr>
              <a:t>Run command:</a:t>
            </a:r>
            <a:endParaRPr lang="en-US" sz="1267" dirty="0"/>
          </a:p>
          <a:p>
            <a:pPr>
              <a:spcAft>
                <a:spcPts val="400"/>
              </a:spcAft>
              <a:buSzPct val="100000"/>
            </a:pPr>
            <a:r>
              <a:rPr lang="en-US" sz="1267" dirty="0">
                <a:solidFill>
                  <a:srgbClr val="FFFFFF"/>
                </a:solidFill>
                <a:latin typeface="Calibri" pitchFamily="34" charset="0"/>
                <a:ea typeface="Calibri" pitchFamily="34" charset="-122"/>
                <a:cs typeface="Calibri" pitchFamily="34" charset="-120"/>
              </a:rPr>
              <a:t>sudo mn --custom topology.py --topo topology </a:t>
            </a:r>
          </a:p>
          <a:p>
            <a:pPr>
              <a:spcAft>
                <a:spcPts val="400"/>
              </a:spcAft>
              <a:buSzPct val="100000"/>
            </a:pPr>
            <a:r>
              <a:rPr lang="en-US" sz="1267" dirty="0">
                <a:solidFill>
                  <a:srgbClr val="FFFFFF"/>
                </a:solidFill>
                <a:latin typeface="Calibri" pitchFamily="34" charset="0"/>
                <a:ea typeface="Calibri" pitchFamily="34" charset="-122"/>
                <a:cs typeface="Calibri" pitchFamily="34" charset="-120"/>
              </a:rPr>
              <a:t>--controller remote --link tc</a:t>
            </a:r>
            <a:endParaRPr lang="en-US" sz="126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TESTING &amp; EVALUATION</a:t>
            </a:r>
            <a:endParaRPr lang="en-US" sz="3733" dirty="0"/>
          </a:p>
        </p:txBody>
      </p:sp>
      <p:sp>
        <p:nvSpPr>
          <p:cNvPr id="9" name="Shape 6"/>
          <p:cNvSpPr/>
          <p:nvPr/>
        </p:nvSpPr>
        <p:spPr>
          <a:xfrm>
            <a:off x="7620000" y="1072896"/>
            <a:ext cx="4328160" cy="5340096"/>
          </a:xfrm>
          <a:prstGeom prst="rect">
            <a:avLst/>
          </a:prstGeom>
          <a:solidFill>
            <a:srgbClr val="1E1E24"/>
          </a:solidFill>
          <a:ln w="12700">
            <a:solidFill>
              <a:srgbClr val="2A2A36"/>
            </a:solidFill>
            <a:prstDash val="solid"/>
          </a:ln>
        </p:spPr>
        <p:txBody>
          <a:bodyPr/>
          <a:lstStyle/>
          <a:p>
            <a:endParaRPr lang="en-GB" sz="2400"/>
          </a:p>
        </p:txBody>
      </p:sp>
      <p:sp>
        <p:nvSpPr>
          <p:cNvPr id="10" name="Text 7"/>
          <p:cNvSpPr/>
          <p:nvPr/>
        </p:nvSpPr>
        <p:spPr>
          <a:xfrm>
            <a:off x="7620000" y="1121664"/>
            <a:ext cx="4328160" cy="390144"/>
          </a:xfrm>
          <a:prstGeom prst="rect">
            <a:avLst/>
          </a:prstGeom>
          <a:noFill/>
          <a:ln/>
        </p:spPr>
        <p:txBody>
          <a:bodyPr wrap="square" lIns="0" tIns="0" rIns="0" bIns="0" rtlCol="0" anchor="ctr"/>
          <a:lstStyle/>
          <a:p>
            <a:pPr algn="ctr"/>
            <a:r>
              <a:rPr lang="en-US" sz="1600" b="1" dirty="0">
                <a:solidFill>
                  <a:srgbClr val="00B4D8"/>
                </a:solidFill>
                <a:latin typeface="Calibri" pitchFamily="34" charset="0"/>
                <a:ea typeface="Calibri" pitchFamily="34" charset="-122"/>
                <a:cs typeface="Calibri" pitchFamily="34" charset="-120"/>
              </a:rPr>
              <a:t>Functional Tests</a:t>
            </a:r>
            <a:endParaRPr lang="en-US" sz="1600" dirty="0"/>
          </a:p>
        </p:txBody>
      </p:sp>
      <p:sp>
        <p:nvSpPr>
          <p:cNvPr id="11" name="Shape 8"/>
          <p:cNvSpPr/>
          <p:nvPr/>
        </p:nvSpPr>
        <p:spPr>
          <a:xfrm>
            <a:off x="7620000" y="1560576"/>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12" name="Text 9"/>
          <p:cNvSpPr/>
          <p:nvPr/>
        </p:nvSpPr>
        <p:spPr>
          <a:xfrm>
            <a:off x="7741920" y="1609344"/>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Cowrie SSH honeypot</a:t>
            </a:r>
            <a:endParaRPr lang="en-US" sz="1267" dirty="0"/>
          </a:p>
        </p:txBody>
      </p:sp>
      <p:sp>
        <p:nvSpPr>
          <p:cNvPr id="13" name="Text 10"/>
          <p:cNvSpPr/>
          <p:nvPr/>
        </p:nvSpPr>
        <p:spPr>
          <a:xfrm>
            <a:off x="9814560" y="1609344"/>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14" name="Text 11"/>
          <p:cNvSpPr/>
          <p:nvPr/>
        </p:nvSpPr>
        <p:spPr>
          <a:xfrm>
            <a:off x="7741920" y="1938528"/>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Fake login prompt, logs all attempts</a:t>
            </a:r>
            <a:endParaRPr lang="en-US" sz="1067" dirty="0"/>
          </a:p>
        </p:txBody>
      </p:sp>
      <p:sp>
        <p:nvSpPr>
          <p:cNvPr id="15" name="Shape 12"/>
          <p:cNvSpPr/>
          <p:nvPr/>
        </p:nvSpPr>
        <p:spPr>
          <a:xfrm>
            <a:off x="7620000" y="2243328"/>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16" name="Text 13"/>
          <p:cNvSpPr/>
          <p:nvPr/>
        </p:nvSpPr>
        <p:spPr>
          <a:xfrm>
            <a:off x="7741920" y="2292096"/>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Command isolation</a:t>
            </a:r>
            <a:endParaRPr lang="en-US" sz="1267" dirty="0"/>
          </a:p>
        </p:txBody>
      </p:sp>
      <p:sp>
        <p:nvSpPr>
          <p:cNvPr id="17" name="Text 14"/>
          <p:cNvSpPr/>
          <p:nvPr/>
        </p:nvSpPr>
        <p:spPr>
          <a:xfrm>
            <a:off x="9814560" y="2292096"/>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18" name="Text 15"/>
          <p:cNvSpPr/>
          <p:nvPr/>
        </p:nvSpPr>
        <p:spPr>
          <a:xfrm>
            <a:off x="7741920" y="2621280"/>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ls, cd, sudo rm -rf /* — all captured</a:t>
            </a:r>
            <a:endParaRPr lang="en-US" sz="1067" dirty="0"/>
          </a:p>
        </p:txBody>
      </p:sp>
      <p:sp>
        <p:nvSpPr>
          <p:cNvPr id="19" name="Shape 16"/>
          <p:cNvSpPr/>
          <p:nvPr/>
        </p:nvSpPr>
        <p:spPr>
          <a:xfrm>
            <a:off x="7620000" y="2926080"/>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20" name="Text 17"/>
          <p:cNvSpPr/>
          <p:nvPr/>
        </p:nvSpPr>
        <p:spPr>
          <a:xfrm>
            <a:off x="7741920" y="2974848"/>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Mininet pingall</a:t>
            </a:r>
            <a:endParaRPr lang="en-US" sz="1267" dirty="0"/>
          </a:p>
        </p:txBody>
      </p:sp>
      <p:sp>
        <p:nvSpPr>
          <p:cNvPr id="21" name="Text 18"/>
          <p:cNvSpPr/>
          <p:nvPr/>
        </p:nvSpPr>
        <p:spPr>
          <a:xfrm>
            <a:off x="9814560" y="2974848"/>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22" name="Text 19"/>
          <p:cNvSpPr/>
          <p:nvPr/>
        </p:nvSpPr>
        <p:spPr>
          <a:xfrm>
            <a:off x="7741920" y="3304032"/>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0% packet drop — 20/20 received</a:t>
            </a:r>
            <a:endParaRPr lang="en-US" sz="1067" dirty="0"/>
          </a:p>
        </p:txBody>
      </p:sp>
      <p:sp>
        <p:nvSpPr>
          <p:cNvPr id="23" name="Shape 20"/>
          <p:cNvSpPr/>
          <p:nvPr/>
        </p:nvSpPr>
        <p:spPr>
          <a:xfrm>
            <a:off x="7620000" y="3608832"/>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24" name="Text 21"/>
          <p:cNvSpPr/>
          <p:nvPr/>
        </p:nvSpPr>
        <p:spPr>
          <a:xfrm>
            <a:off x="7741920" y="3657600"/>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SYN detection</a:t>
            </a:r>
            <a:endParaRPr lang="en-US" sz="1267" dirty="0"/>
          </a:p>
        </p:txBody>
      </p:sp>
      <p:sp>
        <p:nvSpPr>
          <p:cNvPr id="25" name="Text 22"/>
          <p:cNvSpPr/>
          <p:nvPr/>
        </p:nvSpPr>
        <p:spPr>
          <a:xfrm>
            <a:off x="9814560" y="3657600"/>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26" name="Text 23"/>
          <p:cNvSpPr/>
          <p:nvPr/>
        </p:nvSpPr>
        <p:spPr>
          <a:xfrm>
            <a:off x="7741920" y="3986784"/>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controller.py intercepts &amp; logs src IP</a:t>
            </a:r>
            <a:endParaRPr lang="en-US" sz="1067" dirty="0"/>
          </a:p>
        </p:txBody>
      </p:sp>
      <p:sp>
        <p:nvSpPr>
          <p:cNvPr id="27" name="Shape 24"/>
          <p:cNvSpPr/>
          <p:nvPr/>
        </p:nvSpPr>
        <p:spPr>
          <a:xfrm>
            <a:off x="7620000" y="4291584"/>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28" name="Text 25"/>
          <p:cNvSpPr/>
          <p:nvPr/>
        </p:nvSpPr>
        <p:spPr>
          <a:xfrm>
            <a:off x="7741920" y="4340352"/>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Auto scale-up</a:t>
            </a:r>
            <a:endParaRPr lang="en-US" sz="1267" dirty="0"/>
          </a:p>
        </p:txBody>
      </p:sp>
      <p:sp>
        <p:nvSpPr>
          <p:cNvPr id="29" name="Text 26"/>
          <p:cNvSpPr/>
          <p:nvPr/>
        </p:nvSpPr>
        <p:spPr>
          <a:xfrm>
            <a:off x="9814560" y="4340352"/>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30" name="Text 27"/>
          <p:cNvSpPr/>
          <p:nvPr/>
        </p:nvSpPr>
        <p:spPr>
          <a:xfrm>
            <a:off x="7741920" y="4669536"/>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New container deployed on threshold breach</a:t>
            </a:r>
            <a:endParaRPr lang="en-US" sz="1067" dirty="0"/>
          </a:p>
        </p:txBody>
      </p:sp>
      <p:sp>
        <p:nvSpPr>
          <p:cNvPr id="31" name="Shape 28"/>
          <p:cNvSpPr/>
          <p:nvPr/>
        </p:nvSpPr>
        <p:spPr>
          <a:xfrm>
            <a:off x="7620000" y="4974336"/>
            <a:ext cx="4328160" cy="609600"/>
          </a:xfrm>
          <a:prstGeom prst="rect">
            <a:avLst/>
          </a:prstGeom>
          <a:solidFill>
            <a:srgbClr val="001A0D"/>
          </a:solidFill>
          <a:ln w="12700">
            <a:solidFill>
              <a:srgbClr val="1E1E24"/>
            </a:solidFill>
            <a:prstDash val="solid"/>
          </a:ln>
        </p:spPr>
        <p:txBody>
          <a:bodyPr/>
          <a:lstStyle/>
          <a:p>
            <a:endParaRPr lang="en-GB" sz="2400"/>
          </a:p>
        </p:txBody>
      </p:sp>
      <p:sp>
        <p:nvSpPr>
          <p:cNvPr id="32" name="Text 29"/>
          <p:cNvSpPr/>
          <p:nvPr/>
        </p:nvSpPr>
        <p:spPr>
          <a:xfrm>
            <a:off x="7741920" y="5023104"/>
            <a:ext cx="2560320" cy="316992"/>
          </a:xfrm>
          <a:prstGeom prst="rect">
            <a:avLst/>
          </a:prstGeom>
          <a:noFill/>
          <a:ln/>
        </p:spPr>
        <p:txBody>
          <a:bodyPr wrap="square" lIns="0" tIns="0" rIns="0" bIns="0" rtlCol="0" anchor="ctr"/>
          <a:lstStyle/>
          <a:p>
            <a:r>
              <a:rPr lang="en-US" sz="1267" dirty="0">
                <a:solidFill>
                  <a:srgbClr val="FFFFFF"/>
                </a:solidFill>
                <a:latin typeface="Calibri" pitchFamily="34" charset="0"/>
                <a:ea typeface="Calibri" pitchFamily="34" charset="-122"/>
                <a:cs typeface="Calibri" pitchFamily="34" charset="-120"/>
              </a:rPr>
              <a:t>Auto scale-down</a:t>
            </a:r>
            <a:endParaRPr lang="en-US" sz="1267" dirty="0"/>
          </a:p>
        </p:txBody>
      </p:sp>
      <p:sp>
        <p:nvSpPr>
          <p:cNvPr id="33" name="Text 30"/>
          <p:cNvSpPr/>
          <p:nvPr/>
        </p:nvSpPr>
        <p:spPr>
          <a:xfrm>
            <a:off x="9814560" y="5023104"/>
            <a:ext cx="2011680" cy="316992"/>
          </a:xfrm>
          <a:prstGeom prst="rect">
            <a:avLst/>
          </a:prstGeom>
          <a:noFill/>
          <a:ln/>
        </p:spPr>
        <p:txBody>
          <a:bodyPr wrap="square" lIns="0" tIns="0" rIns="0" bIns="0" rtlCol="0" anchor="ctr"/>
          <a:lstStyle/>
          <a:p>
            <a:pPr algn="r"/>
            <a:r>
              <a:rPr lang="en-US" sz="1267" b="1" dirty="0">
                <a:solidFill>
                  <a:srgbClr val="3DDC84"/>
                </a:solidFill>
                <a:latin typeface="Calibri" pitchFamily="34" charset="0"/>
                <a:ea typeface="Calibri" pitchFamily="34" charset="-122"/>
                <a:cs typeface="Calibri" pitchFamily="34" charset="-120"/>
              </a:rPr>
              <a:t>PASS</a:t>
            </a:r>
            <a:endParaRPr lang="en-US" sz="1267" dirty="0"/>
          </a:p>
        </p:txBody>
      </p:sp>
      <p:sp>
        <p:nvSpPr>
          <p:cNvPr id="34" name="Text 31"/>
          <p:cNvSpPr/>
          <p:nvPr/>
        </p:nvSpPr>
        <p:spPr>
          <a:xfrm>
            <a:off x="7741920" y="5352288"/>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Container removed after 3s idle</a:t>
            </a:r>
            <a:endParaRPr lang="en-US" sz="1067" dirty="0"/>
          </a:p>
        </p:txBody>
      </p:sp>
      <p:sp>
        <p:nvSpPr>
          <p:cNvPr id="35" name="Shape 32"/>
          <p:cNvSpPr/>
          <p:nvPr/>
        </p:nvSpPr>
        <p:spPr>
          <a:xfrm>
            <a:off x="7620000" y="5657088"/>
            <a:ext cx="4328160" cy="609600"/>
          </a:xfrm>
          <a:prstGeom prst="rect">
            <a:avLst/>
          </a:prstGeom>
          <a:solidFill>
            <a:srgbClr val="2D1A00"/>
          </a:solidFill>
          <a:ln w="12700">
            <a:solidFill>
              <a:srgbClr val="1E1E24"/>
            </a:solidFill>
            <a:prstDash val="solid"/>
          </a:ln>
        </p:spPr>
        <p:txBody>
          <a:bodyPr/>
          <a:lstStyle/>
          <a:p>
            <a:endParaRPr lang="en-GB" sz="2400"/>
          </a:p>
        </p:txBody>
      </p:sp>
      <p:sp>
        <p:nvSpPr>
          <p:cNvPr id="36" name="Text 33"/>
          <p:cNvSpPr/>
          <p:nvPr/>
        </p:nvSpPr>
        <p:spPr>
          <a:xfrm>
            <a:off x="7741920" y="5705856"/>
            <a:ext cx="2560320" cy="316992"/>
          </a:xfrm>
          <a:prstGeom prst="rect">
            <a:avLst/>
          </a:prstGeom>
          <a:noFill/>
          <a:ln/>
        </p:spPr>
        <p:txBody>
          <a:bodyPr wrap="square" lIns="0" tIns="0" rIns="0" bIns="0" rtlCol="0" anchor="ctr"/>
          <a:lstStyle/>
          <a:p>
            <a:r>
              <a:rPr lang="en-US" sz="1267" dirty="0"/>
              <a:t>Network redirection</a:t>
            </a:r>
          </a:p>
        </p:txBody>
      </p:sp>
      <p:sp>
        <p:nvSpPr>
          <p:cNvPr id="37" name="Text 34"/>
          <p:cNvSpPr/>
          <p:nvPr/>
        </p:nvSpPr>
        <p:spPr>
          <a:xfrm>
            <a:off x="9814560" y="5705856"/>
            <a:ext cx="2011680" cy="316992"/>
          </a:xfrm>
          <a:prstGeom prst="rect">
            <a:avLst/>
          </a:prstGeom>
          <a:noFill/>
          <a:ln/>
        </p:spPr>
        <p:txBody>
          <a:bodyPr wrap="square" lIns="0" tIns="0" rIns="0" bIns="0" rtlCol="0" anchor="ctr"/>
          <a:lstStyle/>
          <a:p>
            <a:pPr algn="r"/>
            <a:r>
              <a:rPr lang="en-US" sz="1267" b="1" dirty="0">
                <a:solidFill>
                  <a:schemeClr val="accent5">
                    <a:lumMod val="60000"/>
                    <a:lumOff val="40000"/>
                  </a:schemeClr>
                </a:solidFill>
                <a:latin typeface="Calibri" pitchFamily="34" charset="0"/>
                <a:ea typeface="Calibri" pitchFamily="34" charset="-122"/>
                <a:cs typeface="Calibri" pitchFamily="34" charset="-120"/>
              </a:rPr>
              <a:t>FAIL</a:t>
            </a:r>
            <a:endParaRPr lang="en-US" sz="1267" dirty="0">
              <a:solidFill>
                <a:schemeClr val="accent5">
                  <a:lumMod val="60000"/>
                  <a:lumOff val="40000"/>
                </a:schemeClr>
              </a:solidFill>
            </a:endParaRPr>
          </a:p>
        </p:txBody>
      </p:sp>
      <p:sp>
        <p:nvSpPr>
          <p:cNvPr id="38" name="Text 35"/>
          <p:cNvSpPr/>
          <p:nvPr/>
        </p:nvSpPr>
        <p:spPr>
          <a:xfrm>
            <a:off x="7741920" y="6035040"/>
            <a:ext cx="4084320" cy="243840"/>
          </a:xfrm>
          <a:prstGeom prst="rect">
            <a:avLst/>
          </a:prstGeom>
          <a:noFill/>
          <a:ln/>
        </p:spPr>
        <p:txBody>
          <a:bodyPr wrap="square" lIns="0" tIns="0" rIns="0" bIns="0" rtlCol="0" anchor="ctr"/>
          <a:lstStyle/>
          <a:p>
            <a:r>
              <a:rPr lang="en-US" sz="1067" i="1" dirty="0">
                <a:solidFill>
                  <a:srgbClr val="AAAAAA"/>
                </a:solidFill>
                <a:latin typeface="Calibri" pitchFamily="34" charset="0"/>
                <a:ea typeface="Calibri" pitchFamily="34" charset="-122"/>
                <a:cs typeface="Calibri" pitchFamily="34" charset="-120"/>
              </a:rPr>
              <a:t>Not properly redirecting traffic.</a:t>
            </a:r>
            <a:endParaRPr lang="en-US" sz="1067" dirty="0"/>
          </a:p>
        </p:txBody>
      </p:sp>
      <p:pic>
        <p:nvPicPr>
          <p:cNvPr id="40" name="Picture 39">
            <a:extLst>
              <a:ext uri="{FF2B5EF4-FFF2-40B4-BE49-F238E27FC236}">
                <a16:creationId xmlns:a16="http://schemas.microsoft.com/office/drawing/2014/main" id="{3CF2DFB9-D199-359D-8F27-A96FAE9C3669}"/>
              </a:ext>
            </a:extLst>
          </p:cNvPr>
          <p:cNvPicPr>
            <a:picLocks noChangeAspect="1"/>
          </p:cNvPicPr>
          <p:nvPr/>
        </p:nvPicPr>
        <p:blipFill>
          <a:blip r:embed="rId3"/>
          <a:stretch>
            <a:fillRect/>
          </a:stretch>
        </p:blipFill>
        <p:spPr>
          <a:xfrm>
            <a:off x="631190" y="1533652"/>
            <a:ext cx="6531610" cy="40502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IMPLEMENTATION CHALLENGES</a:t>
            </a:r>
            <a:endParaRPr lang="en-US" sz="3733" dirty="0"/>
          </a:p>
        </p:txBody>
      </p:sp>
      <p:sp>
        <p:nvSpPr>
          <p:cNvPr id="7" name="Shape 5"/>
          <p:cNvSpPr/>
          <p:nvPr/>
        </p:nvSpPr>
        <p:spPr>
          <a:xfrm>
            <a:off x="365760" y="1219200"/>
            <a:ext cx="11460480" cy="1645920"/>
          </a:xfrm>
          <a:prstGeom prst="rect">
            <a:avLst/>
          </a:prstGeom>
          <a:solidFill>
            <a:srgbClr val="1E1E24"/>
          </a:solidFill>
          <a:ln w="19050">
            <a:solidFill>
              <a:schemeClr val="tx1"/>
            </a:solidFill>
            <a:prstDash val="solid"/>
          </a:ln>
        </p:spPr>
        <p:txBody>
          <a:bodyPr/>
          <a:lstStyle/>
          <a:p>
            <a:endParaRPr lang="en-GB" sz="2400"/>
          </a:p>
        </p:txBody>
      </p:sp>
      <p:sp>
        <p:nvSpPr>
          <p:cNvPr id="8" name="Shape 6"/>
          <p:cNvSpPr/>
          <p:nvPr/>
        </p:nvSpPr>
        <p:spPr>
          <a:xfrm>
            <a:off x="365760" y="1219200"/>
            <a:ext cx="121920" cy="1645920"/>
          </a:xfrm>
          <a:prstGeom prst="rect">
            <a:avLst/>
          </a:prstGeom>
          <a:solidFill>
            <a:schemeClr val="tx1">
              <a:lumMod val="95000"/>
            </a:schemeClr>
          </a:solidFill>
          <a:ln w="12700">
            <a:solidFill>
              <a:schemeClr val="tx1"/>
            </a:solidFill>
            <a:prstDash val="solid"/>
          </a:ln>
        </p:spPr>
        <p:txBody>
          <a:bodyPr/>
          <a:lstStyle/>
          <a:p>
            <a:endParaRPr lang="en-GB" sz="2400" dirty="0"/>
          </a:p>
        </p:txBody>
      </p:sp>
      <p:sp>
        <p:nvSpPr>
          <p:cNvPr id="9" name="Text 7"/>
          <p:cNvSpPr/>
          <p:nvPr/>
        </p:nvSpPr>
        <p:spPr>
          <a:xfrm>
            <a:off x="670560" y="1292352"/>
            <a:ext cx="10972800" cy="365760"/>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1. Framework Deprecation</a:t>
            </a:r>
            <a:endParaRPr lang="en-US" sz="1733" dirty="0"/>
          </a:p>
        </p:txBody>
      </p:sp>
      <p:sp>
        <p:nvSpPr>
          <p:cNvPr id="10" name="Text 8"/>
          <p:cNvSpPr/>
          <p:nvPr/>
        </p:nvSpPr>
        <p:spPr>
          <a:xfrm>
            <a:off x="670560" y="1694688"/>
            <a:ext cx="10850880" cy="463296"/>
          </a:xfrm>
          <a:prstGeom prst="rect">
            <a:avLst/>
          </a:prstGeom>
          <a:noFill/>
          <a:ln/>
        </p:spPr>
        <p:txBody>
          <a:bodyPr wrap="square" lIns="0" tIns="0" rIns="0" bIns="0" rtlCol="0" anchor="ctr"/>
          <a:lstStyle/>
          <a:p>
            <a:r>
              <a:rPr lang="en-US" sz="1400" dirty="0">
                <a:solidFill>
                  <a:srgbClr val="FFFFFF"/>
                </a:solidFill>
                <a:latin typeface="Calibri" pitchFamily="34" charset="0"/>
                <a:ea typeface="Calibri" pitchFamily="34" charset="-122"/>
                <a:cs typeface="Calibri" pitchFamily="34" charset="-120"/>
              </a:rPr>
              <a:t>Problem: The Ryu SDN framework fails to install on Python 3.12 — the 'distutils' module was removed from the standard library.</a:t>
            </a:r>
            <a:endParaRPr lang="en-US" sz="1400" dirty="0"/>
          </a:p>
        </p:txBody>
      </p:sp>
      <p:sp>
        <p:nvSpPr>
          <p:cNvPr id="11" name="Text 9"/>
          <p:cNvSpPr/>
          <p:nvPr/>
        </p:nvSpPr>
        <p:spPr>
          <a:xfrm>
            <a:off x="670560" y="2194560"/>
            <a:ext cx="10850880" cy="536448"/>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Solution: Migrated to OSKen: an actively maintained fork of Ryu, fully compatible with Python 3.12+.</a:t>
            </a:r>
            <a:endParaRPr lang="en-US" sz="1400" dirty="0"/>
          </a:p>
        </p:txBody>
      </p:sp>
      <p:sp>
        <p:nvSpPr>
          <p:cNvPr id="12" name="Shape 10"/>
          <p:cNvSpPr/>
          <p:nvPr/>
        </p:nvSpPr>
        <p:spPr>
          <a:xfrm>
            <a:off x="365760" y="3072384"/>
            <a:ext cx="11460480" cy="1645920"/>
          </a:xfrm>
          <a:prstGeom prst="rect">
            <a:avLst/>
          </a:prstGeom>
          <a:solidFill>
            <a:srgbClr val="1E1E24"/>
          </a:solidFill>
          <a:ln w="19050">
            <a:solidFill>
              <a:schemeClr val="tx1"/>
            </a:solidFill>
            <a:prstDash val="solid"/>
          </a:ln>
        </p:spPr>
        <p:txBody>
          <a:bodyPr/>
          <a:lstStyle/>
          <a:p>
            <a:endParaRPr lang="en-GB" sz="2400" dirty="0"/>
          </a:p>
        </p:txBody>
      </p:sp>
      <p:sp>
        <p:nvSpPr>
          <p:cNvPr id="13" name="Shape 11"/>
          <p:cNvSpPr/>
          <p:nvPr/>
        </p:nvSpPr>
        <p:spPr>
          <a:xfrm>
            <a:off x="365760" y="3072384"/>
            <a:ext cx="121920" cy="1645920"/>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4" name="Text 12"/>
          <p:cNvSpPr/>
          <p:nvPr/>
        </p:nvSpPr>
        <p:spPr>
          <a:xfrm>
            <a:off x="670560" y="3145536"/>
            <a:ext cx="10972800" cy="365760"/>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2. Network Redirection</a:t>
            </a:r>
            <a:endParaRPr lang="en-US" sz="1733" dirty="0"/>
          </a:p>
        </p:txBody>
      </p:sp>
      <p:sp>
        <p:nvSpPr>
          <p:cNvPr id="15" name="Text 13"/>
          <p:cNvSpPr/>
          <p:nvPr/>
        </p:nvSpPr>
        <p:spPr>
          <a:xfrm>
            <a:off x="670560" y="3547872"/>
            <a:ext cx="10850880" cy="463296"/>
          </a:xfrm>
          <a:prstGeom prst="rect">
            <a:avLst/>
          </a:prstGeom>
          <a:noFill/>
          <a:ln/>
        </p:spPr>
        <p:txBody>
          <a:bodyPr wrap="square" lIns="0" tIns="0" rIns="0" bIns="0" rtlCol="0" anchor="ctr"/>
          <a:lstStyle/>
          <a:p>
            <a:r>
              <a:rPr lang="en-US" sz="1400" dirty="0">
                <a:solidFill>
                  <a:srgbClr val="FFFFFF"/>
                </a:solidFill>
                <a:latin typeface="Calibri" pitchFamily="34" charset="0"/>
                <a:ea typeface="Calibri" pitchFamily="34" charset="-122"/>
                <a:cs typeface="Calibri" pitchFamily="34" charset="-120"/>
              </a:rPr>
              <a:t>Problem: Redirecting the traffic to the honeypot containers that were created.</a:t>
            </a:r>
            <a:endParaRPr lang="en-US" sz="1400" dirty="0"/>
          </a:p>
        </p:txBody>
      </p:sp>
      <p:sp>
        <p:nvSpPr>
          <p:cNvPr id="16" name="Text 14"/>
          <p:cNvSpPr/>
          <p:nvPr/>
        </p:nvSpPr>
        <p:spPr>
          <a:xfrm>
            <a:off x="670560" y="4047744"/>
            <a:ext cx="10850880" cy="536448"/>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Solution: Prioritised a proof-of-concept: scaling and flow rule installation. Glutton (a protocol-agnostic honeypot) is identified as the solution path for future implementations.</a:t>
            </a:r>
            <a:endParaRPr lang="en-US" sz="1400" dirty="0"/>
          </a:p>
        </p:txBody>
      </p:sp>
      <p:sp>
        <p:nvSpPr>
          <p:cNvPr id="17" name="Shape 15"/>
          <p:cNvSpPr/>
          <p:nvPr/>
        </p:nvSpPr>
        <p:spPr>
          <a:xfrm>
            <a:off x="365760" y="4925568"/>
            <a:ext cx="11460480" cy="1645920"/>
          </a:xfrm>
          <a:prstGeom prst="rect">
            <a:avLst/>
          </a:prstGeom>
          <a:solidFill>
            <a:srgbClr val="1E1E24"/>
          </a:solidFill>
          <a:ln w="19050">
            <a:solidFill>
              <a:schemeClr val="tx1"/>
            </a:solidFill>
            <a:prstDash val="solid"/>
          </a:ln>
        </p:spPr>
        <p:txBody>
          <a:bodyPr/>
          <a:lstStyle/>
          <a:p>
            <a:endParaRPr lang="en-GB" sz="2400"/>
          </a:p>
        </p:txBody>
      </p:sp>
      <p:sp>
        <p:nvSpPr>
          <p:cNvPr id="18" name="Shape 16"/>
          <p:cNvSpPr/>
          <p:nvPr/>
        </p:nvSpPr>
        <p:spPr>
          <a:xfrm>
            <a:off x="365760" y="4925568"/>
            <a:ext cx="121920" cy="1645920"/>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9" name="Text 17"/>
          <p:cNvSpPr/>
          <p:nvPr/>
        </p:nvSpPr>
        <p:spPr>
          <a:xfrm>
            <a:off x="670560" y="4998720"/>
            <a:ext cx="10972800" cy="365760"/>
          </a:xfrm>
          <a:prstGeom prst="rect">
            <a:avLst/>
          </a:prstGeom>
          <a:noFill/>
          <a:ln/>
        </p:spPr>
        <p:txBody>
          <a:bodyPr wrap="square" lIns="0" tIns="0" rIns="0" bIns="0" rtlCol="0" anchor="ctr"/>
          <a:lstStyle/>
          <a:p>
            <a:r>
              <a:rPr lang="en-US" sz="1733" b="1" dirty="0">
                <a:latin typeface="Calibri" pitchFamily="34" charset="0"/>
                <a:ea typeface="Calibri" pitchFamily="34" charset="-122"/>
                <a:cs typeface="Calibri" pitchFamily="34" charset="-120"/>
              </a:rPr>
              <a:t>3. Cross-Layer Timing Gap</a:t>
            </a:r>
            <a:endParaRPr lang="en-US" sz="1733" dirty="0"/>
          </a:p>
        </p:txBody>
      </p:sp>
      <p:sp>
        <p:nvSpPr>
          <p:cNvPr id="20" name="Text 18"/>
          <p:cNvSpPr/>
          <p:nvPr/>
        </p:nvSpPr>
        <p:spPr>
          <a:xfrm>
            <a:off x="670560" y="5401056"/>
            <a:ext cx="10850880" cy="463296"/>
          </a:xfrm>
          <a:prstGeom prst="rect">
            <a:avLst/>
          </a:prstGeom>
          <a:noFill/>
          <a:ln/>
        </p:spPr>
        <p:txBody>
          <a:bodyPr wrap="square" lIns="0" tIns="0" rIns="0" bIns="0" rtlCol="0" anchor="ctr"/>
          <a:lstStyle/>
          <a:p>
            <a:r>
              <a:rPr lang="en-US" sz="1400" dirty="0">
                <a:solidFill>
                  <a:srgbClr val="FFFFFF"/>
                </a:solidFill>
                <a:latin typeface="Calibri" pitchFamily="34" charset="0"/>
                <a:ea typeface="Calibri" pitchFamily="34" charset="-122"/>
                <a:cs typeface="Calibri" pitchFamily="34" charset="-120"/>
              </a:rPr>
              <a:t>Problem: Using Layer 4 telemetry (SYN counts) to trigger a Layer 7 (Application Layer) response creates a window where the attacker might reach the real SSH port before a honeypot is ready.</a:t>
            </a:r>
            <a:endParaRPr lang="en-US" sz="1400" dirty="0"/>
          </a:p>
        </p:txBody>
      </p:sp>
      <p:sp>
        <p:nvSpPr>
          <p:cNvPr id="21" name="Text 19"/>
          <p:cNvSpPr/>
          <p:nvPr/>
        </p:nvSpPr>
        <p:spPr>
          <a:xfrm>
            <a:off x="670560" y="5900928"/>
            <a:ext cx="10850880" cy="536448"/>
          </a:xfrm>
          <a:prstGeom prst="rect">
            <a:avLst/>
          </a:prstGeom>
          <a:noFill/>
          <a:ln/>
        </p:spPr>
        <p:txBody>
          <a:bodyPr wrap="square" lIns="0" tIns="0" rIns="0" bIns="0" rtlCol="0" anchor="ctr"/>
          <a:lstStyle/>
          <a:p>
            <a:r>
              <a:rPr lang="en-US" sz="1400" i="1" dirty="0">
                <a:solidFill>
                  <a:srgbClr val="AAAAAA"/>
                </a:solidFill>
                <a:latin typeface="Calibri" pitchFamily="34" charset="0"/>
                <a:ea typeface="Calibri" pitchFamily="34" charset="-122"/>
                <a:cs typeface="Calibri" pitchFamily="34" charset="-120"/>
              </a:rPr>
              <a:t>Solution: Threshold set low (20 SYN packets, 1s polling loop) to minimise spin-up latency. The 3s scale-down buffer prevents premature removal of honeypots when traffic volume decreases.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9406C-A721-E18C-C68D-E87D263EDC1A}"/>
            </a:ext>
          </a:extLst>
        </p:cNvPr>
        <p:cNvGrpSpPr/>
        <p:nvPr/>
      </p:nvGrpSpPr>
      <p:grpSpPr>
        <a:xfrm>
          <a:off x="0" y="0"/>
          <a:ext cx="0" cy="0"/>
          <a:chOff x="0" y="0"/>
          <a:chExt cx="0" cy="0"/>
        </a:xfrm>
      </p:grpSpPr>
      <p:sp>
        <p:nvSpPr>
          <p:cNvPr id="6" name="Text 4">
            <a:extLst>
              <a:ext uri="{FF2B5EF4-FFF2-40B4-BE49-F238E27FC236}">
                <a16:creationId xmlns:a16="http://schemas.microsoft.com/office/drawing/2014/main" id="{4EEF1F45-CE54-9F6F-E706-65EF5E308CA2}"/>
              </a:ext>
            </a:extLst>
          </p:cNvPr>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CRITICAL EVALUATION</a:t>
            </a:r>
            <a:endParaRPr lang="en-US" sz="3733" dirty="0"/>
          </a:p>
        </p:txBody>
      </p:sp>
      <p:sp>
        <p:nvSpPr>
          <p:cNvPr id="3" name="TextBox 2">
            <a:extLst>
              <a:ext uri="{FF2B5EF4-FFF2-40B4-BE49-F238E27FC236}">
                <a16:creationId xmlns:a16="http://schemas.microsoft.com/office/drawing/2014/main" id="{360D8591-2944-F310-943F-D0E6CA1070D8}"/>
              </a:ext>
            </a:extLst>
          </p:cNvPr>
          <p:cNvSpPr txBox="1"/>
          <p:nvPr/>
        </p:nvSpPr>
        <p:spPr>
          <a:xfrm>
            <a:off x="1154113" y="1504663"/>
            <a:ext cx="6105524" cy="4001095"/>
          </a:xfrm>
          <a:prstGeom prst="rect">
            <a:avLst/>
          </a:prstGeom>
          <a:noFill/>
        </p:spPr>
        <p:txBody>
          <a:bodyPr wrap="square">
            <a:spAutoFit/>
          </a:bodyPr>
          <a:lstStyle/>
          <a:p>
            <a:pPr algn="l"/>
            <a:endParaRPr lang="en-GB" sz="14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Review of Project Aims</a:t>
            </a:r>
          </a:p>
          <a:p>
            <a:r>
              <a:rPr lang="en-GB" sz="1400" dirty="0">
                <a:latin typeface="Calibri" panose="020F0502020204030204" pitchFamily="34" charset="0"/>
                <a:ea typeface="Calibri" panose="020F0502020204030204" pitchFamily="34" charset="0"/>
                <a:cs typeface="Calibri" panose="020F0502020204030204" pitchFamily="34" charset="0"/>
              </a:rPr>
              <a:t>Implement a system to scale honeypot containers dynamically.</a:t>
            </a:r>
          </a:p>
          <a:p>
            <a:r>
              <a:rPr lang="en-GB" sz="1400" dirty="0">
                <a:latin typeface="Calibri" panose="020F0502020204030204" pitchFamily="34" charset="0"/>
                <a:ea typeface="Calibri" panose="020F0502020204030204" pitchFamily="34" charset="0"/>
                <a:cs typeface="Calibri" panose="020F0502020204030204" pitchFamily="34" charset="0"/>
              </a:rPr>
              <a:t>Detection and scaling were achieved - redirection was attempted</a:t>
            </a:r>
            <a:r>
              <a:rPr lang="en-GB" sz="1600" dirty="0">
                <a:latin typeface="Calibri" panose="020F0502020204030204" pitchFamily="34" charset="0"/>
                <a:ea typeface="Calibri" panose="020F0502020204030204" pitchFamily="34" charset="0"/>
                <a:cs typeface="Calibri" panose="020F0502020204030204" pitchFamily="34" charset="0"/>
              </a:rPr>
              <a:t>. </a:t>
            </a:r>
          </a:p>
          <a:p>
            <a:r>
              <a:rPr lang="en-GB" sz="1800" b="0" i="0" u="none" strike="noStrike" baseline="0" dirty="0">
                <a:latin typeface="Calibri" panose="020F0502020204030204" pitchFamily="34" charset="0"/>
                <a:ea typeface="Calibri" panose="020F0502020204030204" pitchFamily="34" charset="0"/>
                <a:cs typeface="Calibri" panose="020F0502020204030204" pitchFamily="34" charset="0"/>
              </a:rPr>
              <a:t> </a:t>
            </a:r>
            <a:endParaRPr lang="en-GB"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Lessons Learned </a:t>
            </a:r>
          </a:p>
          <a:p>
            <a:r>
              <a:rPr lang="en-GB" sz="1400" dirty="0">
                <a:latin typeface="Calibri" panose="020F0502020204030204" pitchFamily="34" charset="0"/>
                <a:ea typeface="Calibri" panose="020F0502020204030204" pitchFamily="34" charset="0"/>
                <a:cs typeface="Calibri" panose="020F0502020204030204" pitchFamily="34" charset="0"/>
              </a:rPr>
              <a:t>Always check framework compatibility. In hindsight  I should have implemented a different honeypot to cowrie, something like Glutton. As cowrie is purely for SSH connections.</a:t>
            </a:r>
          </a:p>
          <a:p>
            <a:endParaRPr lang="en-GB"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Changes from the Proposal </a:t>
            </a:r>
          </a:p>
          <a:p>
            <a:r>
              <a:rPr lang="en-GB" sz="1400" dirty="0">
                <a:latin typeface="Calibri" panose="020F0502020204030204" pitchFamily="34" charset="0"/>
                <a:ea typeface="Calibri" panose="020F0502020204030204" pitchFamily="34" charset="0"/>
                <a:cs typeface="Calibri" panose="020F0502020204030204" pitchFamily="34" charset="0"/>
              </a:rPr>
              <a:t>Initially planned to have multiple honeypot types. </a:t>
            </a:r>
          </a:p>
          <a:p>
            <a:endParaRPr lang="en-GB" dirty="0">
              <a:latin typeface="Calibri" panose="020F0502020204030204" pitchFamily="34" charset="0"/>
              <a:ea typeface="Calibri" panose="020F0502020204030204" pitchFamily="34" charset="0"/>
              <a:cs typeface="Calibri" panose="020F0502020204030204" pitchFamily="34" charset="0"/>
            </a:endParaRPr>
          </a:p>
          <a:p>
            <a:r>
              <a:rPr lang="en-GB" dirty="0">
                <a:latin typeface="Calibri" panose="020F0502020204030204" pitchFamily="34" charset="0"/>
                <a:ea typeface="Calibri" panose="020F0502020204030204" pitchFamily="34" charset="0"/>
                <a:cs typeface="Calibri" panose="020F0502020204030204" pitchFamily="34" charset="0"/>
              </a:rPr>
              <a:t>Final Remarks</a:t>
            </a:r>
          </a:p>
          <a:p>
            <a:r>
              <a:rPr lang="en-GB" sz="1400" dirty="0">
                <a:latin typeface="Calibri" panose="020F0502020204030204" pitchFamily="34" charset="0"/>
                <a:ea typeface="Calibri" panose="020F0502020204030204" pitchFamily="34" charset="0"/>
                <a:cs typeface="Calibri" panose="020F0502020204030204" pitchFamily="34" charset="0"/>
              </a:rPr>
              <a:t>This is a proof of concept for being able to dynamically scale honeypots. A foundation has been created for future work.</a:t>
            </a:r>
          </a:p>
        </p:txBody>
      </p:sp>
    </p:spTree>
    <p:extLst>
      <p:ext uri="{BB962C8B-B14F-4D97-AF65-F5344CB8AC3E}">
        <p14:creationId xmlns:p14="http://schemas.microsoft.com/office/powerpoint/2010/main" val="60161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670560" y="268224"/>
            <a:ext cx="9144000" cy="792480"/>
          </a:xfrm>
          <a:prstGeom prst="rect">
            <a:avLst/>
          </a:prstGeom>
          <a:noFill/>
          <a:ln/>
        </p:spPr>
        <p:txBody>
          <a:bodyPr wrap="square" lIns="0" tIns="0" rIns="0" bIns="0" rtlCol="0" anchor="ctr"/>
          <a:lstStyle/>
          <a:p>
            <a:r>
              <a:rPr lang="en-US" sz="3733" b="1" dirty="0">
                <a:solidFill>
                  <a:srgbClr val="FFFFFF"/>
                </a:solidFill>
                <a:latin typeface="Calibri" pitchFamily="34" charset="0"/>
                <a:ea typeface="Calibri" pitchFamily="34" charset="-122"/>
                <a:cs typeface="Calibri" pitchFamily="34" charset="-120"/>
              </a:rPr>
              <a:t>CONCLUSION &amp; FUTURE WORK</a:t>
            </a:r>
            <a:endParaRPr lang="en-US" sz="3733" dirty="0"/>
          </a:p>
        </p:txBody>
      </p:sp>
      <p:sp>
        <p:nvSpPr>
          <p:cNvPr id="7" name="Shape 5"/>
          <p:cNvSpPr/>
          <p:nvPr/>
        </p:nvSpPr>
        <p:spPr>
          <a:xfrm>
            <a:off x="365760" y="1219200"/>
            <a:ext cx="5547360" cy="5303520"/>
          </a:xfrm>
          <a:prstGeom prst="rect">
            <a:avLst/>
          </a:prstGeom>
          <a:solidFill>
            <a:srgbClr val="1E1E24"/>
          </a:solidFill>
          <a:ln w="12700">
            <a:solidFill>
              <a:schemeClr val="tx1"/>
            </a:solidFill>
            <a:prstDash val="solid"/>
          </a:ln>
        </p:spPr>
        <p:txBody>
          <a:bodyPr/>
          <a:lstStyle/>
          <a:p>
            <a:endParaRPr lang="en-GB" sz="2400"/>
          </a:p>
        </p:txBody>
      </p:sp>
      <p:sp>
        <p:nvSpPr>
          <p:cNvPr id="8" name="Shape 6"/>
          <p:cNvSpPr/>
          <p:nvPr/>
        </p:nvSpPr>
        <p:spPr>
          <a:xfrm>
            <a:off x="365760" y="1219200"/>
            <a:ext cx="5547360" cy="548640"/>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9" name="Text 7"/>
          <p:cNvSpPr/>
          <p:nvPr/>
        </p:nvSpPr>
        <p:spPr>
          <a:xfrm>
            <a:off x="426720" y="1255776"/>
            <a:ext cx="5425440" cy="463296"/>
          </a:xfrm>
          <a:prstGeom prst="rect">
            <a:avLst/>
          </a:prstGeom>
          <a:noFill/>
          <a:ln/>
        </p:spPr>
        <p:txBody>
          <a:bodyPr wrap="square" lIns="0" tIns="0" rIns="0" bIns="0" rtlCol="0" anchor="ctr"/>
          <a:lstStyle/>
          <a:p>
            <a:r>
              <a:rPr lang="en-US" sz="1733" b="1" dirty="0">
                <a:solidFill>
                  <a:srgbClr val="1A1A1E"/>
                </a:solidFill>
                <a:latin typeface="Calibri" pitchFamily="34" charset="0"/>
                <a:ea typeface="Calibri" pitchFamily="34" charset="-122"/>
                <a:cs typeface="Calibri" pitchFamily="34" charset="-120"/>
              </a:rPr>
              <a:t> What Was Achieved</a:t>
            </a:r>
            <a:endParaRPr lang="en-US" sz="1733" dirty="0"/>
          </a:p>
        </p:txBody>
      </p:sp>
      <p:sp>
        <p:nvSpPr>
          <p:cNvPr id="10" name="Text 8"/>
          <p:cNvSpPr/>
          <p:nvPr/>
        </p:nvSpPr>
        <p:spPr>
          <a:xfrm>
            <a:off x="585216" y="1877568"/>
            <a:ext cx="5120640" cy="4450080"/>
          </a:xfrm>
          <a:prstGeom prst="rect">
            <a:avLst/>
          </a:prstGeom>
          <a:noFill/>
          <a:ln/>
        </p:spPr>
        <p:txBody>
          <a:bodyPr wrap="square" rtlCol="0" anchor="t"/>
          <a:lstStyle/>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SYN flood detection via OSKen controller</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Dynamic scale-up/down of Cowrie containers</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OpenFlow flow rules installed per attacker IP</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Cowrie logs all brute-force &amp; command activity</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Star topology network emulated in Mininet</a:t>
            </a:r>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Proof of concept.</a:t>
            </a:r>
            <a:endParaRPr lang="en-US" sz="1533" dirty="0"/>
          </a:p>
        </p:txBody>
      </p:sp>
      <p:sp>
        <p:nvSpPr>
          <p:cNvPr id="11" name="Shape 9"/>
          <p:cNvSpPr/>
          <p:nvPr/>
        </p:nvSpPr>
        <p:spPr>
          <a:xfrm>
            <a:off x="6278880" y="1219200"/>
            <a:ext cx="5547360" cy="5303520"/>
          </a:xfrm>
          <a:prstGeom prst="rect">
            <a:avLst/>
          </a:prstGeom>
          <a:solidFill>
            <a:srgbClr val="1E1E24"/>
          </a:solidFill>
          <a:ln w="12700">
            <a:solidFill>
              <a:schemeClr val="tx1"/>
            </a:solidFill>
            <a:prstDash val="solid"/>
          </a:ln>
        </p:spPr>
        <p:txBody>
          <a:bodyPr/>
          <a:lstStyle/>
          <a:p>
            <a:endParaRPr lang="en-GB" sz="2400"/>
          </a:p>
        </p:txBody>
      </p:sp>
      <p:sp>
        <p:nvSpPr>
          <p:cNvPr id="12" name="Shape 10"/>
          <p:cNvSpPr/>
          <p:nvPr/>
        </p:nvSpPr>
        <p:spPr>
          <a:xfrm>
            <a:off x="6278880" y="1219200"/>
            <a:ext cx="5547360" cy="548640"/>
          </a:xfrm>
          <a:prstGeom prst="rect">
            <a:avLst/>
          </a:prstGeom>
          <a:solidFill>
            <a:schemeClr val="tx1">
              <a:lumMod val="95000"/>
            </a:schemeClr>
          </a:solidFill>
          <a:ln w="12700">
            <a:solidFill>
              <a:schemeClr val="tx1"/>
            </a:solidFill>
            <a:prstDash val="solid"/>
          </a:ln>
        </p:spPr>
        <p:txBody>
          <a:bodyPr/>
          <a:lstStyle/>
          <a:p>
            <a:endParaRPr lang="en-GB" sz="2400"/>
          </a:p>
        </p:txBody>
      </p:sp>
      <p:sp>
        <p:nvSpPr>
          <p:cNvPr id="13" name="Text 11"/>
          <p:cNvSpPr/>
          <p:nvPr/>
        </p:nvSpPr>
        <p:spPr>
          <a:xfrm>
            <a:off x="6339840" y="1255776"/>
            <a:ext cx="5425440" cy="463296"/>
          </a:xfrm>
          <a:prstGeom prst="rect">
            <a:avLst/>
          </a:prstGeom>
          <a:noFill/>
          <a:ln/>
        </p:spPr>
        <p:txBody>
          <a:bodyPr wrap="square" lIns="0" tIns="0" rIns="0" bIns="0" rtlCol="0" anchor="ctr"/>
          <a:lstStyle/>
          <a:p>
            <a:r>
              <a:rPr lang="en-US" sz="1733" b="1" dirty="0">
                <a:solidFill>
                  <a:srgbClr val="1A1A1E"/>
                </a:solidFill>
                <a:latin typeface="Calibri" pitchFamily="34" charset="0"/>
                <a:ea typeface="Calibri" pitchFamily="34" charset="-122"/>
                <a:cs typeface="Calibri" pitchFamily="34" charset="-120"/>
              </a:rPr>
              <a:t>Future Work</a:t>
            </a:r>
            <a:endParaRPr lang="en-US" sz="1733" dirty="0"/>
          </a:p>
        </p:txBody>
      </p:sp>
      <p:sp>
        <p:nvSpPr>
          <p:cNvPr id="14" name="Text 12"/>
          <p:cNvSpPr/>
          <p:nvPr/>
        </p:nvSpPr>
        <p:spPr>
          <a:xfrm>
            <a:off x="6461760" y="1877568"/>
            <a:ext cx="5120640" cy="4450080"/>
          </a:xfrm>
          <a:prstGeom prst="rect">
            <a:avLst/>
          </a:prstGeom>
          <a:noFill/>
          <a:ln/>
        </p:spPr>
        <p:txBody>
          <a:bodyPr wrap="square" rtlCol="0" anchor="t"/>
          <a:lstStyle/>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Full network redirection using Glutton honeypot (handles raw network streams) instead of Cowrie.</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Machine Learning-based anomaly detection — move beyond fixed SYN threshold</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Expand honeypot types: HTTP, DNS, ICS protocols – to capture wider range of attacks.</a:t>
            </a:r>
            <a:endParaRPr lang="en-US" sz="1533" dirty="0"/>
          </a:p>
          <a:p>
            <a:pPr marL="457189" indent="-457189">
              <a:spcAft>
                <a:spcPts val="667"/>
              </a:spcAft>
              <a:buSzPct val="100000"/>
              <a:buChar char="•"/>
            </a:pPr>
            <a:r>
              <a:rPr lang="en-US" sz="1533" dirty="0">
                <a:solidFill>
                  <a:srgbClr val="FFFFFF"/>
                </a:solidFill>
                <a:latin typeface="Calibri" pitchFamily="34" charset="0"/>
                <a:ea typeface="Calibri" pitchFamily="34" charset="-122"/>
                <a:cs typeface="Calibri" pitchFamily="34" charset="-120"/>
              </a:rPr>
              <a:t>Web dashboard: real-time container map and attack geo-maps – ability to manage honeypots online.</a:t>
            </a:r>
          </a:p>
          <a:p>
            <a:pPr marL="457189" indent="-457189">
              <a:spcAft>
                <a:spcPts val="667"/>
              </a:spcAft>
              <a:buSzPct val="100000"/>
              <a:buChar char="•"/>
            </a:pPr>
            <a:endParaRPr lang="en-US" sz="1533" dirty="0"/>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1016</TotalTime>
  <Words>1292</Words>
  <Application>Microsoft Office PowerPoint</Application>
  <PresentationFormat>Widescreen</PresentationFormat>
  <Paragraphs>177</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Calibri</vt:lpstr>
      <vt:lpstr>Century Gothic</vt:lpstr>
      <vt:lpstr>Consolas</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Green, Thomas (Student)</dc:creator>
  <cp:lastModifiedBy>Green, Thomas (Student)</cp:lastModifiedBy>
  <cp:revision>14</cp:revision>
  <dcterms:created xsi:type="dcterms:W3CDTF">2026-06-03T17:37:37Z</dcterms:created>
  <dcterms:modified xsi:type="dcterms:W3CDTF">2026-06-04T10:47:57Z</dcterms:modified>
</cp:coreProperties>
</file>